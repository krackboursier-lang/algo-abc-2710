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  <p:sldId id="268" r:id="rId14"/>
    <p:sldId id="273" r:id="rId15"/>
    <p:sldId id="272" r:id="rId16"/>
    <p:sldId id="274" r:id="rId17"/>
    <p:sldId id="270" r:id="rId18"/>
    <p:sldId id="271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BIB Salah" userId="4ce625fa-83e5-4134-b55b-b4efb4b66c0b" providerId="ADAL" clId="{F3C0A58B-1E9A-426B-89F9-B4DEDB560ED5}"/>
    <pc:docChg chg="modSld">
      <pc:chgData name="TEBIB Salah" userId="4ce625fa-83e5-4134-b55b-b4efb4b66c0b" providerId="ADAL" clId="{F3C0A58B-1E9A-426B-89F9-B4DEDB560ED5}" dt="2025-12-08T07:57:18" v="0" actId="1076"/>
      <pc:docMkLst>
        <pc:docMk/>
      </pc:docMkLst>
      <pc:sldChg chg="modSp mod">
        <pc:chgData name="TEBIB Salah" userId="4ce625fa-83e5-4134-b55b-b4efb4b66c0b" providerId="ADAL" clId="{F3C0A58B-1E9A-426B-89F9-B4DEDB560ED5}" dt="2025-12-08T07:57:18" v="0" actId="1076"/>
        <pc:sldMkLst>
          <pc:docMk/>
          <pc:sldMk cId="1287946225" sldId="269"/>
        </pc:sldMkLst>
        <pc:picChg chg="mod">
          <ac:chgData name="TEBIB Salah" userId="4ce625fa-83e5-4134-b55b-b4efb4b66c0b" providerId="ADAL" clId="{F3C0A58B-1E9A-426B-89F9-B4DEDB560ED5}" dt="2025-12-08T07:57:18" v="0" actId="1076"/>
          <ac:picMkLst>
            <pc:docMk/>
            <pc:sldMk cId="1287946225" sldId="269"/>
            <ac:picMk id="4" creationId="{A42C2532-C140-1428-D4D0-1BED307CBBB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96B8D-662C-471C-B8F4-A3D7F3E4FC3A}" type="datetimeFigureOut">
              <a:t>08/12/2025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46D3F-293D-463E-86A5-7F7E26172FF7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6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b="1" i="1"/>
              <a:t>Très </a:t>
            </a:r>
            <a:r>
              <a:rPr lang="en-US" b="1" i="1" err="1"/>
              <a:t>utilisé</a:t>
            </a:r>
            <a:r>
              <a:rPr lang="en-US" b="1" i="1"/>
              <a:t> dans le monde </a:t>
            </a:r>
            <a:r>
              <a:rPr lang="en-US" b="1" i="1" err="1"/>
              <a:t>professionnel</a:t>
            </a:r>
            <a:r>
              <a:rPr lang="en-US" i="1"/>
              <a:t> : Java </a:t>
            </a:r>
            <a:r>
              <a:rPr lang="en-US" i="1" err="1"/>
              <a:t>est</a:t>
            </a:r>
            <a:r>
              <a:rPr lang="en-US" i="1"/>
              <a:t> un standard dans les </a:t>
            </a:r>
            <a:r>
              <a:rPr lang="en-US" i="1" err="1"/>
              <a:t>grandes</a:t>
            </a:r>
            <a:r>
              <a:rPr lang="en-US" i="1"/>
              <a:t> </a:t>
            </a:r>
            <a:r>
              <a:rPr lang="en-US" i="1" err="1"/>
              <a:t>entreprises</a:t>
            </a:r>
            <a:r>
              <a:rPr lang="en-US" i="1"/>
              <a:t>, </a:t>
            </a:r>
            <a:r>
              <a:rPr lang="en-US" i="1" err="1"/>
              <a:t>notamment</a:t>
            </a:r>
            <a:r>
              <a:rPr lang="en-US" i="1"/>
              <a:t> dans les </a:t>
            </a:r>
            <a:r>
              <a:rPr lang="en-US" i="1" err="1"/>
              <a:t>domaines</a:t>
            </a:r>
            <a:r>
              <a:rPr lang="en-US" i="1"/>
              <a:t> de la </a:t>
            </a:r>
            <a:r>
              <a:rPr lang="en-US" i="1" err="1"/>
              <a:t>banque</a:t>
            </a:r>
            <a:r>
              <a:rPr lang="en-US" i="1"/>
              <a:t>, des assurances, et des applications Android.</a:t>
            </a:r>
            <a:endParaRPr lang="en-US"/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b="1"/>
              <a:t>Accessible pour les </a:t>
            </a:r>
            <a:r>
              <a:rPr lang="en-US" b="1" err="1"/>
              <a:t>débutants</a:t>
            </a:r>
            <a:r>
              <a:rPr lang="en-US"/>
              <a:t> : Bien </a:t>
            </a:r>
            <a:r>
              <a:rPr lang="en-US" err="1"/>
              <a:t>qu’il</a:t>
            </a:r>
            <a:r>
              <a:rPr lang="en-US"/>
              <a:t> </a:t>
            </a:r>
            <a:r>
              <a:rPr lang="en-US" err="1"/>
              <a:t>soit</a:t>
            </a:r>
            <a:r>
              <a:rPr lang="en-US"/>
              <a:t> un </a:t>
            </a:r>
            <a:r>
              <a:rPr lang="en-US" err="1"/>
              <a:t>langage</a:t>
            </a:r>
            <a:r>
              <a:rPr lang="en-US"/>
              <a:t> </a:t>
            </a:r>
            <a:r>
              <a:rPr lang="en-US" err="1"/>
              <a:t>orienté</a:t>
            </a:r>
            <a:r>
              <a:rPr lang="en-US"/>
              <a:t> </a:t>
            </a:r>
            <a:r>
              <a:rPr lang="en-US" err="1"/>
              <a:t>objet</a:t>
            </a:r>
            <a:r>
              <a:rPr lang="en-US"/>
              <a:t>,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syntaxe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claire</a:t>
            </a:r>
            <a:r>
              <a:rPr lang="en-US"/>
              <a:t> et bien </a:t>
            </a:r>
            <a:r>
              <a:rPr lang="en-US" err="1"/>
              <a:t>structurée</a:t>
            </a:r>
            <a:r>
              <a:rPr lang="en-US"/>
              <a:t>, </a:t>
            </a:r>
            <a:r>
              <a:rPr lang="en-US" err="1"/>
              <a:t>ce</a:t>
            </a:r>
            <a:r>
              <a:rPr lang="en-US"/>
              <a:t> qui le rend </a:t>
            </a:r>
            <a:r>
              <a:rPr lang="en-US" err="1"/>
              <a:t>adapté</a:t>
            </a:r>
            <a:r>
              <a:rPr lang="en-US"/>
              <a:t> à </a:t>
            </a:r>
            <a:r>
              <a:rPr lang="en-US" err="1"/>
              <a:t>l’apprentissage</a:t>
            </a:r>
            <a:r>
              <a:rPr lang="en-US"/>
              <a:t>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b="1" err="1"/>
              <a:t>Favorise</a:t>
            </a:r>
            <a:r>
              <a:rPr lang="en-US" b="1"/>
              <a:t> la </a:t>
            </a:r>
            <a:r>
              <a:rPr lang="en-US" b="1" err="1"/>
              <a:t>logique</a:t>
            </a:r>
            <a:r>
              <a:rPr lang="en-US"/>
              <a:t> : Java met </a:t>
            </a:r>
            <a:r>
              <a:rPr lang="en-US" err="1"/>
              <a:t>davantage</a:t>
            </a:r>
            <a:r>
              <a:rPr lang="en-US"/>
              <a:t> </a:t>
            </a:r>
            <a:r>
              <a:rPr lang="en-US" err="1"/>
              <a:t>l’accent</a:t>
            </a:r>
            <a:r>
              <a:rPr lang="en-US"/>
              <a:t> sur la </a:t>
            </a:r>
            <a:r>
              <a:rPr lang="en-US" b="1" err="1"/>
              <a:t>logique</a:t>
            </a:r>
            <a:r>
              <a:rPr lang="en-US" b="1"/>
              <a:t> de </a:t>
            </a:r>
            <a:r>
              <a:rPr lang="en-US" b="1" err="1"/>
              <a:t>programmation</a:t>
            </a:r>
            <a:r>
              <a:rPr lang="en-US"/>
              <a:t> et la </a:t>
            </a:r>
            <a:r>
              <a:rPr lang="en-US" b="1" err="1"/>
              <a:t>résolution</a:t>
            </a:r>
            <a:r>
              <a:rPr lang="en-US" b="1"/>
              <a:t> de </a:t>
            </a:r>
            <a:r>
              <a:rPr lang="en-US" b="1" err="1"/>
              <a:t>problèmes</a:t>
            </a:r>
            <a:r>
              <a:rPr lang="en-US"/>
              <a:t> que sur la </a:t>
            </a:r>
            <a:r>
              <a:rPr lang="en-US" err="1"/>
              <a:t>connaissance</a:t>
            </a:r>
            <a:r>
              <a:rPr lang="en-US"/>
              <a:t> </a:t>
            </a:r>
            <a:r>
              <a:rPr lang="en-US" err="1"/>
              <a:t>approfondie</a:t>
            </a:r>
            <a:r>
              <a:rPr lang="en-US"/>
              <a:t> du matériel </a:t>
            </a:r>
            <a:r>
              <a:rPr lang="en-US" err="1"/>
              <a:t>ou</a:t>
            </a:r>
            <a:r>
              <a:rPr lang="en-US"/>
              <a:t> du </a:t>
            </a:r>
            <a:r>
              <a:rPr lang="en-US" err="1"/>
              <a:t>système</a:t>
            </a:r>
            <a:r>
              <a:rPr lang="en-US"/>
              <a:t>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b="1"/>
              <a:t>Stable et mature</a:t>
            </a:r>
            <a:r>
              <a:rPr lang="en-US"/>
              <a:t> : Java </a:t>
            </a:r>
            <a:r>
              <a:rPr lang="en-US" err="1"/>
              <a:t>évolue</a:t>
            </a:r>
            <a:r>
              <a:rPr lang="en-US"/>
              <a:t> </a:t>
            </a:r>
            <a:r>
              <a:rPr lang="en-US" err="1"/>
              <a:t>lentement</a:t>
            </a:r>
            <a:r>
              <a:rPr lang="en-US"/>
              <a:t> </a:t>
            </a:r>
            <a:r>
              <a:rPr lang="en-US" err="1"/>
              <a:t>comparé</a:t>
            </a:r>
            <a:r>
              <a:rPr lang="en-US"/>
              <a:t> à </a:t>
            </a:r>
            <a:r>
              <a:rPr lang="en-US" err="1"/>
              <a:t>d’autres</a:t>
            </a:r>
            <a:r>
              <a:rPr lang="en-US"/>
              <a:t> </a:t>
            </a:r>
            <a:r>
              <a:rPr lang="en-US" err="1"/>
              <a:t>langages</a:t>
            </a:r>
            <a:r>
              <a:rPr lang="en-US"/>
              <a:t>, </a:t>
            </a:r>
            <a:r>
              <a:rPr lang="en-US" err="1"/>
              <a:t>ce</a:t>
            </a:r>
            <a:r>
              <a:rPr lang="en-US"/>
              <a:t> qui </a:t>
            </a:r>
            <a:r>
              <a:rPr lang="en-US" err="1"/>
              <a:t>signifie</a:t>
            </a:r>
            <a:r>
              <a:rPr lang="en-US"/>
              <a:t> </a:t>
            </a:r>
            <a:r>
              <a:rPr lang="en-US" err="1"/>
              <a:t>moins</a:t>
            </a:r>
            <a:r>
              <a:rPr lang="en-US"/>
              <a:t> de </a:t>
            </a:r>
            <a:r>
              <a:rPr lang="en-US" err="1"/>
              <a:t>changements</a:t>
            </a:r>
            <a:r>
              <a:rPr lang="en-US"/>
              <a:t> </a:t>
            </a:r>
            <a:r>
              <a:rPr lang="en-US" err="1"/>
              <a:t>soudains</a:t>
            </a:r>
            <a:r>
              <a:rPr lang="en-US"/>
              <a:t> à </a:t>
            </a:r>
            <a:r>
              <a:rPr lang="en-US" err="1"/>
              <a:t>apprendre</a:t>
            </a:r>
            <a:r>
              <a:rPr lang="en-US"/>
              <a:t> et </a:t>
            </a:r>
            <a:r>
              <a:rPr lang="en-US" err="1"/>
              <a:t>une</a:t>
            </a:r>
            <a:r>
              <a:rPr lang="en-US"/>
              <a:t> base </a:t>
            </a:r>
            <a:r>
              <a:rPr lang="en-US" err="1"/>
              <a:t>solide</a:t>
            </a:r>
            <a:r>
              <a:rPr lang="en-US"/>
              <a:t> de documentation.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63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7A45D-1B6F-84CD-26FF-20E5921C2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07B83-2864-0573-62A5-7B8B1F9EE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C0B79-F46C-6624-C2CB-121B3D257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3E610-755D-8ABA-C667-E79AD1D1E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86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ADD63-1319-4DBB-F264-CFCA83E8C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FF6AB-697B-01CF-541B-2D7A337D7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09DEA-D6CB-8B67-E32B-295EB4DF3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5A09E-82B4-A8C6-FC8F-D6B5C1416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45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73E0D-0240-837F-8798-F2967DCF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782B2-F1B0-5EC5-878F-610D85A0B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9D510-951E-40BC-0190-E10A3B64F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45A03-9AEA-36CE-A1D6-5EC7F44B5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59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7835F-1362-DA49-7E60-807F8848B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D92EF-07CA-8B72-0863-D2079D54F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63450-50D0-1CD5-FD40-1B2C6D35D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98F89-339F-D20A-73FF-1448C1E33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1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D822-E66C-29FA-BB40-9BF40D0E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EB6D0-736B-BC1A-AEB5-18B8D75AF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BFA7AC-5A40-9780-97A3-F2713C3F4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5F16E-691B-282B-CE29-48907E0DD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97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C229A-D56C-3E43-CC98-98111D4F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40940-3830-80A9-AFB1-8250B0327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52E15-EE4B-D5E9-0DB2-8B332B636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4ACD9-4539-DF9A-C214-A7C421A2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80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1916-C16C-A76E-E240-74062583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56B71-3548-9410-DA16-C6D408D67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2C0C5-0E55-93B6-6455-F6AD84CCE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2A804-CF99-C9B3-338A-D21C5104C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78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AC496-19D2-042A-2E14-0DBC0F3C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8300E-320F-D577-668F-D27A2DB9E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89B52D-594F-A552-2B09-8BF6123A0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C2CAC-85A0-1E87-E381-9F2478744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05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DADE4-A297-CC3F-5282-32B1477E9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D1AE6-3389-C749-3A33-46E78BBE5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B089C-6D2A-6EB2-AC19-E25758BA6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7E93B-A41D-A18F-A1BC-DD07CD120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71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A065-26F0-44F7-A67C-2A25D862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8508D-E665-2C82-3A05-CFCEC7F0F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4024C-3583-4A60-D441-6122938F3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US" i="1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C3A2E-4FC8-579A-466D-B5F1F96EC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46D3F-293D-463E-86A5-7F7E26172FF7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25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5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9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43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1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68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77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1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60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0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2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1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3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85" r:id="rId4"/>
    <p:sldLayoutId id="2147483686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01CCA-BEC9-41B8-8676-916D0C7E73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16" b="5684"/>
          <a:stretch/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26918" y="3429000"/>
            <a:ext cx="4506064" cy="1888742"/>
          </a:xfrm>
        </p:spPr>
        <p:txBody>
          <a:bodyPr>
            <a:normAutofit/>
          </a:bodyPr>
          <a:lstStyle/>
          <a:p>
            <a:pPr algn="l"/>
            <a:r>
              <a:rPr lang="fr-FR">
                <a:solidFill>
                  <a:srgbClr val="FFFFFF"/>
                </a:solidFill>
              </a:rPr>
              <a:t>Algorithmie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26916" y="5428229"/>
            <a:ext cx="4506066" cy="8996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fr-FR">
                <a:solidFill>
                  <a:srgbClr val="FFFFFF"/>
                </a:solidFill>
              </a:rPr>
              <a:t>Partie I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9A223-946C-B0D0-6D66-74DE5C6A1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1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err="1"/>
              <a:t>Sommaire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45AE2F4-E5DF-A694-1E56-9430BEA6A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80" y="2212848"/>
            <a:ext cx="3553413" cy="41224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err="1"/>
              <a:t>Définition</a:t>
            </a:r>
            <a:r>
              <a:rPr lang="en-US" sz="1800"/>
              <a:t> de </a:t>
            </a:r>
            <a:r>
              <a:rPr lang="en-US" sz="1800" err="1"/>
              <a:t>l'Algorithmie</a:t>
            </a:r>
            <a:endParaRPr lang="en-US" sz="1800"/>
          </a:p>
          <a:p>
            <a:r>
              <a:rPr lang="en-US" sz="1800"/>
              <a:t>Histoire de </a:t>
            </a:r>
            <a:r>
              <a:rPr lang="en-US" sz="1800" err="1"/>
              <a:t>l'Algortihmie</a:t>
            </a:r>
            <a:endParaRPr lang="en-US" sz="1800"/>
          </a:p>
          <a:p>
            <a:r>
              <a:rPr lang="en-US" sz="1800" err="1"/>
              <a:t>Langage</a:t>
            </a:r>
            <a:r>
              <a:rPr lang="en-US" sz="1800"/>
              <a:t> de </a:t>
            </a:r>
            <a:r>
              <a:rPr lang="en-US" sz="1800" err="1"/>
              <a:t>programmation</a:t>
            </a:r>
            <a:endParaRPr lang="en-US" sz="1800"/>
          </a:p>
          <a:p>
            <a:r>
              <a:rPr lang="en-US" sz="1800"/>
              <a:t>Les variables</a:t>
            </a:r>
          </a:p>
          <a:p>
            <a:r>
              <a:rPr lang="en-US" sz="1800"/>
              <a:t>Les types</a:t>
            </a:r>
          </a:p>
          <a:p>
            <a:r>
              <a:rPr lang="en-US" sz="1800" err="1"/>
              <a:t>Opérateurs</a:t>
            </a:r>
            <a:endParaRPr lang="en-US" sz="1800"/>
          </a:p>
          <a:p>
            <a:r>
              <a:rPr lang="en-US" sz="1800"/>
              <a:t>Condition</a:t>
            </a:r>
          </a:p>
          <a:p>
            <a:r>
              <a:rPr lang="en-US" sz="1800"/>
              <a:t>Scanner</a:t>
            </a:r>
          </a:p>
          <a:p>
            <a:r>
              <a:rPr lang="en-US" sz="1800"/>
              <a:t>Print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BE2150-9F3E-32C2-AC8C-D18727CA23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27" r="19274"/>
          <a:stretch/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0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01049-64FC-6C3B-B944-101210B6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603504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 err="1"/>
              <a:t>Définition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8090B7-27D8-F57A-FA09-1BA690AAF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79" y="2355723"/>
            <a:ext cx="4361688" cy="40965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800"/>
              <a:t>Un </a:t>
            </a:r>
            <a:r>
              <a:rPr lang="en-US" sz="1800" err="1"/>
              <a:t>algorithme</a:t>
            </a:r>
            <a:r>
              <a:rPr lang="en-US" sz="1800"/>
              <a:t> </a:t>
            </a:r>
            <a:r>
              <a:rPr lang="en-US" sz="1800" err="1">
                <a:ea typeface="+mn-lt"/>
                <a:cs typeface="+mn-lt"/>
              </a:rPr>
              <a:t>est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une</a:t>
            </a:r>
            <a:r>
              <a:rPr lang="en-US" sz="1800">
                <a:ea typeface="+mn-lt"/>
                <a:cs typeface="+mn-lt"/>
              </a:rPr>
              <a:t> suite </a:t>
            </a:r>
            <a:r>
              <a:rPr lang="en-US" sz="1800" err="1">
                <a:ea typeface="+mn-lt"/>
                <a:cs typeface="+mn-lt"/>
              </a:rPr>
              <a:t>d'instructions</a:t>
            </a:r>
            <a:r>
              <a:rPr lang="en-US" sz="1800">
                <a:ea typeface="+mn-lt"/>
                <a:cs typeface="+mn-lt"/>
              </a:rPr>
              <a:t> précises </a:t>
            </a:r>
            <a:r>
              <a:rPr lang="en-US" sz="1800" err="1">
                <a:ea typeface="+mn-lt"/>
                <a:cs typeface="+mn-lt"/>
              </a:rPr>
              <a:t>permettant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err="1">
                <a:ea typeface="+mn-lt"/>
                <a:cs typeface="+mn-lt"/>
              </a:rPr>
              <a:t>résoudre</a:t>
            </a:r>
            <a:r>
              <a:rPr lang="en-US" sz="1800">
                <a:ea typeface="+mn-lt"/>
                <a:cs typeface="+mn-lt"/>
              </a:rPr>
              <a:t> un </a:t>
            </a:r>
            <a:r>
              <a:rPr lang="en-US" sz="1800" err="1">
                <a:ea typeface="+mn-lt"/>
                <a:cs typeface="+mn-lt"/>
              </a:rPr>
              <a:t>problème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ou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d'accomplir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une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tâche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automatisée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/>
              <a:t>Le but d'un </a:t>
            </a:r>
            <a:r>
              <a:rPr lang="en-US" sz="1800" err="1"/>
              <a:t>algorithme</a:t>
            </a:r>
            <a:r>
              <a:rPr lang="en-US" sz="1800"/>
              <a:t> </a:t>
            </a:r>
            <a:r>
              <a:rPr lang="en-US" sz="1800" err="1"/>
              <a:t>d'effectuer</a:t>
            </a:r>
            <a:r>
              <a:rPr lang="en-US" sz="1800"/>
              <a:t> </a:t>
            </a:r>
            <a:r>
              <a:rPr lang="en-US" sz="1800" err="1"/>
              <a:t>une</a:t>
            </a:r>
            <a:r>
              <a:rPr lang="en-US" sz="1800"/>
              <a:t> </a:t>
            </a:r>
            <a:r>
              <a:rPr lang="en-US" sz="1800" err="1"/>
              <a:t>tâche</a:t>
            </a:r>
            <a:r>
              <a:rPr lang="en-US" sz="1800"/>
              <a:t> par la machine avec le </a:t>
            </a:r>
            <a:r>
              <a:rPr lang="en-US" sz="1800" err="1"/>
              <a:t>moins</a:t>
            </a:r>
            <a:r>
              <a:rPr lang="en-US" sz="1800"/>
              <a:t> </a:t>
            </a:r>
            <a:r>
              <a:rPr lang="en-US" sz="1800" err="1"/>
              <a:t>d'interventions</a:t>
            </a:r>
            <a:r>
              <a:rPr lang="en-US" sz="1800"/>
              <a:t> de </a:t>
            </a:r>
            <a:r>
              <a:rPr lang="en-US" sz="1800" err="1"/>
              <a:t>l'homme</a:t>
            </a:r>
            <a:r>
              <a:rPr lang="en-US" sz="1800"/>
              <a:t>.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/>
              <a:t>L'homme se </a:t>
            </a:r>
            <a:r>
              <a:rPr lang="en-US" sz="1800" err="1"/>
              <a:t>contente</a:t>
            </a:r>
            <a:r>
              <a:rPr lang="en-US" sz="1800"/>
              <a:t> </a:t>
            </a:r>
            <a:r>
              <a:rPr lang="en-US" sz="1800" err="1"/>
              <a:t>juste</a:t>
            </a:r>
            <a:r>
              <a:rPr lang="en-US" sz="1800"/>
              <a:t> de donner des </a:t>
            </a:r>
            <a:r>
              <a:rPr lang="en-US" sz="1800" err="1"/>
              <a:t>informations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400607-10E7-D20C-E387-01CFBFD64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5" r="45878"/>
          <a:stretch/>
        </p:blipFill>
        <p:spPr>
          <a:xfrm>
            <a:off x="5818632" y="-1"/>
            <a:ext cx="637336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2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B9307-964F-3D58-9A3B-B76C37200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71510-82BD-E68B-984D-634F8D591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603504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/>
              <a:t>Histoire de </a:t>
            </a:r>
            <a:r>
              <a:rPr lang="en-US" err="1"/>
              <a:t>l'Algorithmie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74DAFA-3C8F-3D9B-91CB-1E6DD8692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79" y="2212848"/>
            <a:ext cx="4361688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>
                <a:ea typeface="+mn-lt"/>
                <a:cs typeface="+mn-lt"/>
              </a:rPr>
              <a:t>Al-</a:t>
            </a:r>
            <a:r>
              <a:rPr lang="en-US" sz="1800" b="1" err="1">
                <a:ea typeface="+mn-lt"/>
                <a:cs typeface="+mn-lt"/>
              </a:rPr>
              <a:t>Khwārizmī</a:t>
            </a:r>
            <a:r>
              <a:rPr lang="en-US" sz="1800">
                <a:ea typeface="+mn-lt"/>
                <a:cs typeface="+mn-lt"/>
              </a:rPr>
              <a:t>, un savant perse du </a:t>
            </a:r>
            <a:r>
              <a:rPr lang="en-US" sz="1800" b="1" err="1">
                <a:ea typeface="+mn-lt"/>
                <a:cs typeface="+mn-lt"/>
              </a:rPr>
              <a:t>IXe</a:t>
            </a:r>
            <a:r>
              <a:rPr lang="en-US" sz="1800" b="1">
                <a:ea typeface="+mn-lt"/>
                <a:cs typeface="+mn-lt"/>
              </a:rPr>
              <a:t> siècle , </a:t>
            </a:r>
            <a:r>
              <a:rPr lang="en-US" sz="1800" err="1">
                <a:ea typeface="+mn-lt"/>
                <a:cs typeface="+mn-lt"/>
              </a:rPr>
              <a:t>crée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l'Algorithmie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>
                <a:ea typeface="+mn-lt"/>
                <a:cs typeface="+mn-lt"/>
              </a:rPr>
              <a:t>Al-</a:t>
            </a:r>
            <a:r>
              <a:rPr lang="en-US" sz="1800" err="1">
                <a:ea typeface="+mn-lt"/>
                <a:cs typeface="+mn-lt"/>
              </a:rPr>
              <a:t>Khwārizmī</a:t>
            </a:r>
            <a:r>
              <a:rPr lang="en-US" sz="1800">
                <a:ea typeface="+mn-lt"/>
                <a:cs typeface="+mn-lt"/>
              </a:rPr>
              <a:t> a </a:t>
            </a:r>
            <a:r>
              <a:rPr lang="en-US" sz="1800" err="1">
                <a:ea typeface="+mn-lt"/>
                <a:cs typeface="+mn-lt"/>
              </a:rPr>
              <a:t>créé</a:t>
            </a:r>
            <a:r>
              <a:rPr lang="en-US" sz="1800">
                <a:ea typeface="+mn-lt"/>
                <a:cs typeface="+mn-lt"/>
              </a:rPr>
              <a:t> des </a:t>
            </a:r>
            <a:r>
              <a:rPr lang="en-US" sz="1800" err="1">
                <a:ea typeface="+mn-lt"/>
                <a:cs typeface="+mn-lt"/>
              </a:rPr>
              <a:t>procédures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logiques</a:t>
            </a:r>
            <a:r>
              <a:rPr lang="en-US" sz="1800">
                <a:ea typeface="+mn-lt"/>
                <a:cs typeface="+mn-lt"/>
              </a:rPr>
              <a:t> pour </a:t>
            </a:r>
            <a:r>
              <a:rPr lang="en-US" sz="1800" b="1" err="1">
                <a:ea typeface="+mn-lt"/>
                <a:cs typeface="+mn-lt"/>
              </a:rPr>
              <a:t>résoudre</a:t>
            </a:r>
            <a:r>
              <a:rPr lang="en-US" sz="1800" b="1">
                <a:ea typeface="+mn-lt"/>
                <a:cs typeface="+mn-lt"/>
              </a:rPr>
              <a:t> des </a:t>
            </a:r>
            <a:r>
              <a:rPr lang="en-US" sz="1800" b="1" err="1">
                <a:ea typeface="+mn-lt"/>
                <a:cs typeface="+mn-lt"/>
              </a:rPr>
              <a:t>problèmes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mathématiques</a:t>
            </a:r>
            <a:r>
              <a:rPr lang="en-US" sz="1800" b="1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/>
              <a:t>Al-</a:t>
            </a:r>
            <a:r>
              <a:rPr lang="en-US" sz="1800" err="1"/>
              <a:t>Khwārizmī</a:t>
            </a:r>
            <a:r>
              <a:rPr lang="en-US" sz="1800"/>
              <a:t> </a:t>
            </a:r>
            <a:r>
              <a:rPr lang="en-US" sz="1800" b="1" err="1"/>
              <a:t>est</a:t>
            </a:r>
            <a:r>
              <a:rPr lang="en-US" sz="1800" b="1"/>
              <a:t> sans le savoir le </a:t>
            </a:r>
            <a:r>
              <a:rPr lang="en-US" sz="1800" b="1" err="1"/>
              <a:t>fondateur</a:t>
            </a:r>
            <a:r>
              <a:rPr lang="en-US" sz="1800" b="1"/>
              <a:t> de </a:t>
            </a:r>
            <a:r>
              <a:rPr lang="en-US" sz="1800" b="1" err="1"/>
              <a:t>l'informatique</a:t>
            </a:r>
            <a:endParaRPr lang="en-US" sz="1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9D08AC-E8D1-50F3-1E62-C63FB46DD5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85" r="8456" b="-139"/>
          <a:stretch/>
        </p:blipFill>
        <p:spPr>
          <a:xfrm>
            <a:off x="5818632" y="-1"/>
            <a:ext cx="6375988" cy="686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2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2B327-93C3-7F46-1D79-A9DABF53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B61FEBE-B024-E867-ADF8-B65D117A2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C1F7E-1E9E-12E7-8C92-41C38766C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603504"/>
            <a:ext cx="7333171" cy="1527048"/>
          </a:xfrm>
        </p:spPr>
        <p:txBody>
          <a:bodyPr anchor="b">
            <a:normAutofit/>
          </a:bodyPr>
          <a:lstStyle/>
          <a:p>
            <a:r>
              <a:rPr lang="en-US"/>
              <a:t>Histoire de </a:t>
            </a:r>
            <a:br>
              <a:rPr lang="en-US"/>
            </a:br>
            <a:r>
              <a:rPr lang="en-US" err="1"/>
              <a:t>l'Algorithmie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235E45-E37A-4A9A-383C-1DC6462A9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50" y="2212848"/>
            <a:ext cx="7333171" cy="40965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b="1">
                <a:ea typeface="+mn-lt"/>
                <a:cs typeface="+mn-lt"/>
              </a:rPr>
              <a:t>Alan Turing </a:t>
            </a:r>
            <a:r>
              <a:rPr lang="en-US" sz="1700">
                <a:ea typeface="+mn-lt"/>
                <a:cs typeface="+mn-lt"/>
              </a:rPr>
              <a:t>a appliqué l'Algorithmie à la machine dans </a:t>
            </a:r>
            <a:r>
              <a:rPr lang="en-US" sz="1700" b="1">
                <a:ea typeface="+mn-lt"/>
                <a:cs typeface="+mn-lt"/>
              </a:rPr>
              <a:t>les années 1940</a:t>
            </a:r>
          </a:p>
          <a:p>
            <a:pPr marL="0" indent="0">
              <a:buNone/>
            </a:pPr>
            <a:endParaRPr lang="en-US" sz="1700" b="1"/>
          </a:p>
          <a:p>
            <a:r>
              <a:rPr lang="en-US" sz="1700"/>
              <a:t>Créant ainsi </a:t>
            </a:r>
            <a:r>
              <a:rPr lang="en-US" sz="1700" b="1"/>
              <a:t>l'informatique moderne.</a:t>
            </a:r>
          </a:p>
          <a:p>
            <a:pPr marL="0" indent="0">
              <a:buNone/>
            </a:pPr>
            <a:endParaRPr lang="en-US" sz="1700" b="1"/>
          </a:p>
          <a:p>
            <a:r>
              <a:rPr lang="en-US" sz="1700" b="1"/>
              <a:t>Les algorithmes </a:t>
            </a:r>
            <a:r>
              <a:rPr lang="en-US" sz="1700"/>
              <a:t>seront crucials pour concevoir </a:t>
            </a:r>
            <a:r>
              <a:rPr lang="en-US" sz="1700" b="1"/>
              <a:t>des logiciels</a:t>
            </a:r>
            <a:r>
              <a:rPr lang="en-US" sz="1700"/>
              <a:t> et </a:t>
            </a:r>
            <a:r>
              <a:rPr lang="en-US" sz="1700" b="1"/>
              <a:t>des systèmes d'exploitations.</a:t>
            </a:r>
          </a:p>
          <a:p>
            <a:pPr marL="0" indent="0">
              <a:buNone/>
            </a:pPr>
            <a:endParaRPr lang="en-US" sz="1700" b="1"/>
          </a:p>
          <a:p>
            <a:r>
              <a:rPr lang="en-US" sz="1700" b="1"/>
              <a:t>L'algorithmie permet entre-autre </a:t>
            </a:r>
            <a:r>
              <a:rPr lang="en-US" sz="1700"/>
              <a:t>de faire fonctionner de manière autonome un ordinateur, une application ou un site web dynamique.</a:t>
            </a:r>
          </a:p>
          <a:p>
            <a:endParaRPr lang="en-US" sz="17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D1CD38-1498-844F-1D83-26D5A101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96" r="19951" b="3"/>
          <a:stretch/>
        </p:blipFill>
        <p:spPr>
          <a:xfrm>
            <a:off x="8730108" y="3448060"/>
            <a:ext cx="3461891" cy="34054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3AE742-3A56-E1D3-6F4F-C265EDE293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6" r="3" b="24944"/>
          <a:stretch/>
        </p:blipFill>
        <p:spPr>
          <a:xfrm>
            <a:off x="8730108" y="-3404"/>
            <a:ext cx="3461891" cy="340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8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BF888-2B39-6A9B-1E7A-F536D9E4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CA5A5A1-FF9E-3162-6698-74F91D284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52A0B2-7E15-D2C1-CC0D-F06D6415D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603504"/>
            <a:ext cx="7333171" cy="1527048"/>
          </a:xfrm>
        </p:spPr>
        <p:txBody>
          <a:bodyPr anchor="b">
            <a:normAutofit/>
          </a:bodyPr>
          <a:lstStyle/>
          <a:p>
            <a:r>
              <a:rPr lang="en-US" err="1"/>
              <a:t>Langage</a:t>
            </a:r>
            <a:r>
              <a:rPr lang="en-US"/>
              <a:t> de </a:t>
            </a:r>
            <a:br>
              <a:rPr lang="en-US"/>
            </a:br>
            <a:r>
              <a:rPr lang="en-US" err="1"/>
              <a:t>programmation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C62A0C-DDBC-3945-986A-C05898641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50" y="2212848"/>
            <a:ext cx="7333171" cy="40965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700" b="1">
                <a:ea typeface="+mn-lt"/>
                <a:cs typeface="+mn-lt"/>
              </a:rPr>
              <a:t>Un </a:t>
            </a:r>
            <a:r>
              <a:rPr lang="en-US" sz="1700" b="1" err="1">
                <a:ea typeface="+mn-lt"/>
                <a:cs typeface="+mn-lt"/>
              </a:rPr>
              <a:t>langage</a:t>
            </a:r>
            <a:r>
              <a:rPr lang="en-US" sz="1700" b="1">
                <a:ea typeface="+mn-lt"/>
                <a:cs typeface="+mn-lt"/>
              </a:rPr>
              <a:t> de </a:t>
            </a:r>
            <a:r>
              <a:rPr lang="en-US" sz="1700" b="1" err="1">
                <a:ea typeface="+mn-lt"/>
                <a:cs typeface="+mn-lt"/>
              </a:rPr>
              <a:t>programmation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est</a:t>
            </a:r>
            <a:r>
              <a:rPr lang="en-US" sz="1700">
                <a:ea typeface="+mn-lt"/>
                <a:cs typeface="+mn-lt"/>
              </a:rPr>
              <a:t> un </a:t>
            </a:r>
            <a:r>
              <a:rPr lang="en-US" sz="1700" err="1">
                <a:ea typeface="+mn-lt"/>
                <a:cs typeface="+mn-lt"/>
              </a:rPr>
              <a:t>langage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utilisé</a:t>
            </a:r>
            <a:r>
              <a:rPr lang="en-US" sz="1700">
                <a:ea typeface="+mn-lt"/>
                <a:cs typeface="+mn-lt"/>
              </a:rPr>
              <a:t> pour </a:t>
            </a:r>
            <a:r>
              <a:rPr lang="en-US" sz="1700" err="1">
                <a:ea typeface="+mn-lt"/>
                <a:cs typeface="+mn-lt"/>
              </a:rPr>
              <a:t>écrire</a:t>
            </a:r>
            <a:r>
              <a:rPr lang="en-US" sz="1700">
                <a:ea typeface="+mn-lt"/>
                <a:cs typeface="+mn-lt"/>
              </a:rPr>
              <a:t> des instructions </a:t>
            </a:r>
            <a:r>
              <a:rPr lang="en-US" sz="1700" err="1">
                <a:ea typeface="+mn-lt"/>
                <a:cs typeface="+mn-lt"/>
              </a:rPr>
              <a:t>compréhensibles</a:t>
            </a:r>
            <a:r>
              <a:rPr lang="en-US" sz="1700">
                <a:ea typeface="+mn-lt"/>
                <a:cs typeface="+mn-lt"/>
              </a:rPr>
              <a:t> par un </a:t>
            </a:r>
            <a:r>
              <a:rPr lang="en-US" sz="1700" err="1">
                <a:ea typeface="+mn-lt"/>
                <a:cs typeface="+mn-lt"/>
              </a:rPr>
              <a:t>ordinateur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afin</a:t>
            </a:r>
            <a:r>
              <a:rPr lang="en-US" sz="1700">
                <a:ea typeface="+mn-lt"/>
                <a:cs typeface="+mn-lt"/>
              </a:rPr>
              <a:t> de </a:t>
            </a:r>
            <a:r>
              <a:rPr lang="en-US" sz="1700" err="1">
                <a:ea typeface="+mn-lt"/>
                <a:cs typeface="+mn-lt"/>
              </a:rPr>
              <a:t>lui</a:t>
            </a:r>
            <a:r>
              <a:rPr lang="en-US" sz="1700">
                <a:ea typeface="+mn-lt"/>
                <a:cs typeface="+mn-lt"/>
              </a:rPr>
              <a:t> faire </a:t>
            </a:r>
            <a:r>
              <a:rPr lang="en-US" sz="1700" err="1">
                <a:ea typeface="+mn-lt"/>
                <a:cs typeface="+mn-lt"/>
              </a:rPr>
              <a:t>exécuter</a:t>
            </a:r>
            <a:r>
              <a:rPr lang="en-US" sz="1700">
                <a:ea typeface="+mn-lt"/>
                <a:cs typeface="+mn-lt"/>
              </a:rPr>
              <a:t> des </a:t>
            </a:r>
            <a:r>
              <a:rPr lang="en-US" sz="1700" err="1">
                <a:ea typeface="+mn-lt"/>
                <a:cs typeface="+mn-lt"/>
              </a:rPr>
              <a:t>tâches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 b="1">
              <a:ea typeface="+mn-lt"/>
              <a:cs typeface="+mn-lt"/>
            </a:endParaRPr>
          </a:p>
          <a:p>
            <a:pPr marL="0" indent="0">
              <a:buNone/>
            </a:pPr>
            <a:endParaRPr lang="en-US" sz="1700" b="1"/>
          </a:p>
          <a:p>
            <a:r>
              <a:rPr lang="en-US" sz="1700">
                <a:ea typeface="+mn-lt"/>
                <a:cs typeface="+mn-lt"/>
              </a:rPr>
              <a:t>Il </a:t>
            </a:r>
            <a:r>
              <a:rPr lang="en-US" sz="1700" err="1">
                <a:ea typeface="+mn-lt"/>
                <a:cs typeface="+mn-lt"/>
              </a:rPr>
              <a:t>sert</a:t>
            </a:r>
            <a:r>
              <a:rPr lang="en-US" sz="1700">
                <a:ea typeface="+mn-lt"/>
                <a:cs typeface="+mn-lt"/>
              </a:rPr>
              <a:t> à </a:t>
            </a:r>
            <a:r>
              <a:rPr lang="en-US" sz="1700" b="1" err="1">
                <a:ea typeface="+mn-lt"/>
                <a:cs typeface="+mn-lt"/>
              </a:rPr>
              <a:t>traduire</a:t>
            </a:r>
            <a:r>
              <a:rPr lang="en-US" sz="1700" b="1">
                <a:ea typeface="+mn-lt"/>
                <a:cs typeface="+mn-lt"/>
              </a:rPr>
              <a:t> la </a:t>
            </a:r>
            <a:r>
              <a:rPr lang="en-US" sz="1700" b="1" err="1">
                <a:ea typeface="+mn-lt"/>
                <a:cs typeface="+mn-lt"/>
              </a:rPr>
              <a:t>logique</a:t>
            </a:r>
            <a:r>
              <a:rPr lang="en-US" sz="1700" b="1">
                <a:ea typeface="+mn-lt"/>
                <a:cs typeface="+mn-lt"/>
              </a:rPr>
              <a:t> d’un </a:t>
            </a:r>
            <a:r>
              <a:rPr lang="en-US" sz="1700" b="1" err="1">
                <a:ea typeface="+mn-lt"/>
                <a:cs typeface="+mn-lt"/>
              </a:rPr>
              <a:t>algorithme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en</a:t>
            </a:r>
            <a:r>
              <a:rPr lang="en-US" sz="1700">
                <a:ea typeface="+mn-lt"/>
                <a:cs typeface="+mn-lt"/>
              </a:rPr>
              <a:t> un code que la machine </a:t>
            </a:r>
            <a:r>
              <a:rPr lang="en-US" sz="1700" err="1">
                <a:ea typeface="+mn-lt"/>
                <a:cs typeface="+mn-lt"/>
              </a:rPr>
              <a:t>peut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interpréter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ou</a:t>
            </a:r>
            <a:r>
              <a:rPr lang="en-US" sz="1700">
                <a:ea typeface="+mn-lt"/>
                <a:cs typeface="+mn-lt"/>
              </a:rPr>
              <a:t> compiler pour </a:t>
            </a:r>
            <a:r>
              <a:rPr lang="en-US" sz="1700" err="1">
                <a:ea typeface="+mn-lt"/>
                <a:cs typeface="+mn-lt"/>
              </a:rPr>
              <a:t>fonctionner</a:t>
            </a:r>
            <a:r>
              <a:rPr lang="en-US" sz="17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1700" b="1"/>
          </a:p>
          <a:p>
            <a:r>
              <a:rPr lang="en-US" sz="1700">
                <a:ea typeface="+mn-lt"/>
                <a:cs typeface="+mn-lt"/>
              </a:rPr>
              <a:t>Il </a:t>
            </a:r>
            <a:r>
              <a:rPr lang="en-US" sz="1700" err="1">
                <a:ea typeface="+mn-lt"/>
                <a:cs typeface="+mn-lt"/>
              </a:rPr>
              <a:t>existe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b="1">
                <a:ea typeface="+mn-lt"/>
                <a:cs typeface="+mn-lt"/>
              </a:rPr>
              <a:t>plus de 700 </a:t>
            </a:r>
            <a:r>
              <a:rPr lang="en-US" sz="1700" b="1" err="1">
                <a:ea typeface="+mn-lt"/>
                <a:cs typeface="+mn-lt"/>
              </a:rPr>
              <a:t>langages</a:t>
            </a:r>
            <a:r>
              <a:rPr lang="en-US" sz="1700" b="1">
                <a:ea typeface="+mn-lt"/>
                <a:cs typeface="+mn-lt"/>
              </a:rPr>
              <a:t> de </a:t>
            </a:r>
            <a:r>
              <a:rPr lang="en-US" sz="1700" b="1" err="1">
                <a:ea typeface="+mn-lt"/>
                <a:cs typeface="+mn-lt"/>
              </a:rPr>
              <a:t>programmation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recensés</a:t>
            </a:r>
            <a:r>
              <a:rPr lang="en-US" sz="1700">
                <a:ea typeface="+mn-lt"/>
                <a:cs typeface="+mn-lt"/>
              </a:rPr>
              <a:t>, </a:t>
            </a:r>
            <a:r>
              <a:rPr lang="en-US" sz="1700" err="1">
                <a:ea typeface="+mn-lt"/>
                <a:cs typeface="+mn-lt"/>
              </a:rPr>
              <a:t>mais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tous</a:t>
            </a:r>
            <a:r>
              <a:rPr lang="en-US" sz="1700">
                <a:ea typeface="+mn-lt"/>
                <a:cs typeface="+mn-lt"/>
              </a:rPr>
              <a:t> ne </a:t>
            </a:r>
            <a:r>
              <a:rPr lang="en-US" sz="1700" err="1">
                <a:ea typeface="+mn-lt"/>
                <a:cs typeface="+mn-lt"/>
              </a:rPr>
              <a:t>sont</a:t>
            </a:r>
            <a:r>
              <a:rPr lang="en-US" sz="1700">
                <a:ea typeface="+mn-lt"/>
                <a:cs typeface="+mn-lt"/>
              </a:rPr>
              <a:t> pas </a:t>
            </a:r>
            <a:r>
              <a:rPr lang="en-US" sz="1700" err="1">
                <a:ea typeface="+mn-lt"/>
                <a:cs typeface="+mn-lt"/>
              </a:rPr>
              <a:t>utilisés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aujourd’hui</a:t>
            </a:r>
            <a:r>
              <a:rPr lang="en-US" sz="17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1700" b="1"/>
          </a:p>
          <a:p>
            <a:r>
              <a:rPr lang="en-US" sz="1700" b="1"/>
              <a:t>Les plus </a:t>
            </a:r>
            <a:r>
              <a:rPr lang="en-US" sz="1700" b="1" err="1"/>
              <a:t>utilisées</a:t>
            </a:r>
            <a:r>
              <a:rPr lang="en-US" sz="1700" b="1"/>
              <a:t> </a:t>
            </a:r>
            <a:r>
              <a:rPr lang="en-US" sz="1700" b="1" err="1"/>
              <a:t>sont</a:t>
            </a:r>
            <a:r>
              <a:rPr lang="en-US" sz="1700" b="1"/>
              <a:t> : Python, </a:t>
            </a:r>
            <a:r>
              <a:rPr lang="en-US" sz="1700" b="1" err="1"/>
              <a:t>Javascript</a:t>
            </a:r>
            <a:r>
              <a:rPr lang="en-US" sz="1700" b="1"/>
              <a:t>, Java, C# , C/ C++</a:t>
            </a:r>
            <a:endParaRPr lang="en-US" sz="1700"/>
          </a:p>
          <a:p>
            <a:endParaRPr lang="en-US" sz="17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208A9-5957-64DD-90B6-2C8DCE3C0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0" y="228386"/>
            <a:ext cx="2343150" cy="25721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3C9BD2-F2F1-70E5-F30C-AFDE103D6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496" y="1047750"/>
            <a:ext cx="1659808" cy="3209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1C7A80-4F1F-55E0-4250-4689E297D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9350" y="2800350"/>
            <a:ext cx="2028825" cy="2028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F95D64-5047-B2D6-F7C4-313E57047E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4381500"/>
            <a:ext cx="18002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76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ABE6B-C11D-712F-3A8D-BF80082FA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513191B-DF60-AC25-BF45-3F1D0612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51554-BA80-F653-6CEA-A5BC9B688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3429"/>
            <a:ext cx="7333171" cy="1060323"/>
          </a:xfrm>
        </p:spPr>
        <p:txBody>
          <a:bodyPr anchor="b">
            <a:normAutofit/>
          </a:bodyPr>
          <a:lstStyle/>
          <a:p>
            <a:r>
              <a:rPr lang="en-US" err="1"/>
              <a:t>Langage</a:t>
            </a:r>
            <a:r>
              <a:rPr lang="en-US"/>
              <a:t> Java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F5CB50-0DC7-D013-8B7B-75770C666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50" y="888873"/>
            <a:ext cx="7333171" cy="646823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7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b="1" err="1">
                <a:ea typeface="+mn-lt"/>
                <a:cs typeface="+mn-lt"/>
              </a:rPr>
              <a:t>Pourquoi</a:t>
            </a:r>
            <a:r>
              <a:rPr lang="en-US" sz="1600" b="1">
                <a:ea typeface="+mn-lt"/>
                <a:cs typeface="+mn-lt"/>
              </a:rPr>
              <a:t> on </a:t>
            </a:r>
            <a:r>
              <a:rPr lang="en-US" sz="1600" b="1" err="1">
                <a:ea typeface="+mn-lt"/>
                <a:cs typeface="+mn-lt"/>
              </a:rPr>
              <a:t>va</a:t>
            </a: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travailler</a:t>
            </a:r>
            <a:r>
              <a:rPr lang="en-US" sz="1600" b="1">
                <a:ea typeface="+mn-lt"/>
                <a:cs typeface="+mn-lt"/>
              </a:rPr>
              <a:t> sur JAVA ?</a:t>
            </a:r>
            <a:endParaRPr lang="en-US" sz="1600" b="1"/>
          </a:p>
          <a:p>
            <a:r>
              <a:rPr lang="en-US" sz="1800" b="1" i="1">
                <a:ea typeface="+mn-lt"/>
                <a:cs typeface="+mn-lt"/>
              </a:rPr>
              <a:t>Très </a:t>
            </a:r>
            <a:r>
              <a:rPr lang="en-US" sz="1800" b="1" i="1" err="1">
                <a:ea typeface="+mn-lt"/>
                <a:cs typeface="+mn-lt"/>
              </a:rPr>
              <a:t>utilisé</a:t>
            </a:r>
            <a:r>
              <a:rPr lang="en-US" sz="1800" b="1" i="1">
                <a:ea typeface="+mn-lt"/>
                <a:cs typeface="+mn-lt"/>
              </a:rPr>
              <a:t> dans le monde </a:t>
            </a:r>
            <a:r>
              <a:rPr lang="en-US" sz="1800" b="1" i="1" err="1">
                <a:ea typeface="+mn-lt"/>
                <a:cs typeface="+mn-lt"/>
              </a:rPr>
              <a:t>professionnel</a:t>
            </a:r>
            <a:r>
              <a:rPr lang="en-US" sz="1800" i="1">
                <a:ea typeface="+mn-lt"/>
                <a:cs typeface="+mn-lt"/>
              </a:rPr>
              <a:t> : Java </a:t>
            </a:r>
            <a:r>
              <a:rPr lang="en-US" sz="1800" i="1" err="1">
                <a:ea typeface="+mn-lt"/>
                <a:cs typeface="+mn-lt"/>
              </a:rPr>
              <a:t>est</a:t>
            </a:r>
            <a:r>
              <a:rPr lang="en-US" sz="1800" i="1">
                <a:ea typeface="+mn-lt"/>
                <a:cs typeface="+mn-lt"/>
              </a:rPr>
              <a:t> un standard dans les </a:t>
            </a:r>
            <a:r>
              <a:rPr lang="en-US" sz="1800" i="1" err="1">
                <a:ea typeface="+mn-lt"/>
                <a:cs typeface="+mn-lt"/>
              </a:rPr>
              <a:t>grandes</a:t>
            </a:r>
            <a:r>
              <a:rPr lang="en-US" sz="1800" i="1">
                <a:ea typeface="+mn-lt"/>
                <a:cs typeface="+mn-lt"/>
              </a:rPr>
              <a:t> </a:t>
            </a:r>
            <a:r>
              <a:rPr lang="en-US" sz="1800" i="1" err="1">
                <a:ea typeface="+mn-lt"/>
                <a:cs typeface="+mn-lt"/>
              </a:rPr>
              <a:t>entreprises</a:t>
            </a:r>
            <a:r>
              <a:rPr lang="en-US" sz="1800" i="1">
                <a:ea typeface="+mn-lt"/>
                <a:cs typeface="+mn-lt"/>
              </a:rPr>
              <a:t>,</a:t>
            </a:r>
          </a:p>
          <a:p>
            <a:endParaRPr lang="en-US" sz="1400" i="1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Accessible pour les </a:t>
            </a:r>
            <a:r>
              <a:rPr lang="en-US" sz="1600" b="1" err="1">
                <a:ea typeface="+mn-lt"/>
                <a:cs typeface="+mn-lt"/>
              </a:rPr>
              <a:t>débutants</a:t>
            </a:r>
            <a:r>
              <a:rPr lang="en-US" sz="1600">
                <a:ea typeface="+mn-lt"/>
                <a:cs typeface="+mn-lt"/>
              </a:rPr>
              <a:t> :</a:t>
            </a:r>
            <a:r>
              <a:rPr lang="en-US" sz="1600" err="1">
                <a:ea typeface="+mn-lt"/>
                <a:cs typeface="+mn-lt"/>
              </a:rPr>
              <a:t>Syntaxe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est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claire</a:t>
            </a:r>
            <a:r>
              <a:rPr lang="en-US" sz="1600">
                <a:ea typeface="+mn-lt"/>
                <a:cs typeface="+mn-lt"/>
              </a:rPr>
              <a:t> et bien </a:t>
            </a:r>
            <a:r>
              <a:rPr lang="en-US" sz="1600" err="1">
                <a:ea typeface="+mn-lt"/>
                <a:cs typeface="+mn-lt"/>
              </a:rPr>
              <a:t>structurée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ce</a:t>
            </a:r>
            <a:r>
              <a:rPr lang="en-US" sz="1600">
                <a:ea typeface="+mn-lt"/>
                <a:cs typeface="+mn-lt"/>
              </a:rPr>
              <a:t> qui le rend </a:t>
            </a:r>
            <a:r>
              <a:rPr lang="en-US" sz="1600" err="1">
                <a:ea typeface="+mn-lt"/>
                <a:cs typeface="+mn-lt"/>
              </a:rPr>
              <a:t>adapté</a:t>
            </a:r>
            <a:r>
              <a:rPr lang="en-US" sz="1600">
                <a:ea typeface="+mn-lt"/>
                <a:cs typeface="+mn-lt"/>
              </a:rPr>
              <a:t> à </a:t>
            </a:r>
            <a:r>
              <a:rPr lang="en-US" sz="1600" err="1">
                <a:ea typeface="+mn-lt"/>
                <a:cs typeface="+mn-lt"/>
              </a:rPr>
              <a:t>l’apprentissage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pPr marL="0" indent="0">
              <a:buNone/>
            </a:pPr>
            <a:endParaRPr lang="en-US" sz="1400">
              <a:ea typeface="+mn-lt"/>
              <a:cs typeface="+mn-lt"/>
            </a:endParaRPr>
          </a:p>
          <a:p>
            <a:r>
              <a:rPr lang="en-US" sz="1800" b="1" err="1">
                <a:ea typeface="+mn-lt"/>
                <a:cs typeface="+mn-lt"/>
              </a:rPr>
              <a:t>Favorise</a:t>
            </a:r>
            <a:r>
              <a:rPr lang="en-US" sz="1800" b="1">
                <a:ea typeface="+mn-lt"/>
                <a:cs typeface="+mn-lt"/>
              </a:rPr>
              <a:t> la </a:t>
            </a:r>
            <a:r>
              <a:rPr lang="en-US" sz="1800" b="1" err="1">
                <a:ea typeface="+mn-lt"/>
                <a:cs typeface="+mn-lt"/>
              </a:rPr>
              <a:t>logique</a:t>
            </a:r>
            <a:r>
              <a:rPr lang="en-US" sz="1800">
                <a:ea typeface="+mn-lt"/>
                <a:cs typeface="+mn-lt"/>
              </a:rPr>
              <a:t> : Java met </a:t>
            </a:r>
            <a:r>
              <a:rPr lang="en-US" sz="1800" err="1">
                <a:ea typeface="+mn-lt"/>
                <a:cs typeface="+mn-lt"/>
              </a:rPr>
              <a:t>davantage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l’accent</a:t>
            </a:r>
            <a:r>
              <a:rPr lang="en-US" sz="1800">
                <a:ea typeface="+mn-lt"/>
                <a:cs typeface="+mn-lt"/>
              </a:rPr>
              <a:t> sur la </a:t>
            </a:r>
            <a:r>
              <a:rPr lang="en-US" sz="1800" b="1" err="1">
                <a:ea typeface="+mn-lt"/>
                <a:cs typeface="+mn-lt"/>
              </a:rPr>
              <a:t>logique</a:t>
            </a:r>
            <a:r>
              <a:rPr lang="en-US" sz="1800" b="1">
                <a:ea typeface="+mn-lt"/>
                <a:cs typeface="+mn-lt"/>
              </a:rPr>
              <a:t> de </a:t>
            </a:r>
            <a:r>
              <a:rPr lang="en-US" sz="1800" b="1" err="1">
                <a:ea typeface="+mn-lt"/>
                <a:cs typeface="+mn-lt"/>
              </a:rPr>
              <a:t>programmation</a:t>
            </a:r>
            <a:r>
              <a:rPr lang="en-US" sz="1800">
                <a:ea typeface="+mn-lt"/>
                <a:cs typeface="+mn-lt"/>
              </a:rPr>
              <a:t> et la </a:t>
            </a:r>
            <a:r>
              <a:rPr lang="en-US" sz="1800" b="1" err="1">
                <a:ea typeface="+mn-lt"/>
                <a:cs typeface="+mn-lt"/>
              </a:rPr>
              <a:t>résolution</a:t>
            </a:r>
            <a:r>
              <a:rPr lang="en-US" sz="1800" b="1">
                <a:ea typeface="+mn-lt"/>
                <a:cs typeface="+mn-lt"/>
              </a:rPr>
              <a:t> de </a:t>
            </a:r>
            <a:r>
              <a:rPr lang="en-US" sz="1800" b="1" err="1">
                <a:ea typeface="+mn-lt"/>
                <a:cs typeface="+mn-lt"/>
              </a:rPr>
              <a:t>problèmes</a:t>
            </a:r>
            <a:r>
              <a:rPr lang="en-US" sz="1800">
                <a:ea typeface="+mn-lt"/>
                <a:cs typeface="+mn-lt"/>
              </a:rPr>
              <a:t> que sur la </a:t>
            </a:r>
            <a:r>
              <a:rPr lang="en-US" sz="1800" err="1">
                <a:ea typeface="+mn-lt"/>
                <a:cs typeface="+mn-lt"/>
              </a:rPr>
              <a:t>connaissance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approfondie</a:t>
            </a:r>
            <a:r>
              <a:rPr lang="en-US" sz="1800">
                <a:ea typeface="+mn-lt"/>
                <a:cs typeface="+mn-lt"/>
              </a:rPr>
              <a:t> du matériel </a:t>
            </a:r>
            <a:r>
              <a:rPr lang="en-US" sz="1800" err="1">
                <a:ea typeface="+mn-lt"/>
                <a:cs typeface="+mn-lt"/>
              </a:rPr>
              <a:t>ou</a:t>
            </a:r>
            <a:r>
              <a:rPr lang="en-US" sz="1800">
                <a:ea typeface="+mn-lt"/>
                <a:cs typeface="+mn-lt"/>
              </a:rPr>
              <a:t> du </a:t>
            </a:r>
            <a:r>
              <a:rPr lang="en-US" sz="1800" err="1">
                <a:ea typeface="+mn-lt"/>
                <a:cs typeface="+mn-lt"/>
              </a:rPr>
              <a:t>système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pPr marL="0" indent="0">
              <a:buNone/>
            </a:pPr>
            <a:endParaRPr lang="en-US" sz="1400">
              <a:ea typeface="+mn-lt"/>
              <a:cs typeface="+mn-lt"/>
            </a:endParaRPr>
          </a:p>
          <a:p>
            <a:r>
              <a:rPr lang="en-US" sz="1800" b="1">
                <a:ea typeface="+mn-lt"/>
                <a:cs typeface="+mn-lt"/>
              </a:rPr>
              <a:t>Stable et mature</a:t>
            </a:r>
            <a:r>
              <a:rPr lang="en-US" sz="1800">
                <a:ea typeface="+mn-lt"/>
                <a:cs typeface="+mn-lt"/>
              </a:rPr>
              <a:t> : Java </a:t>
            </a:r>
            <a:r>
              <a:rPr lang="en-US" sz="1800" err="1">
                <a:ea typeface="+mn-lt"/>
                <a:cs typeface="+mn-lt"/>
              </a:rPr>
              <a:t>évolue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lentement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comparé</a:t>
            </a:r>
            <a:r>
              <a:rPr lang="en-US" sz="1800">
                <a:ea typeface="+mn-lt"/>
                <a:cs typeface="+mn-lt"/>
              </a:rPr>
              <a:t> à </a:t>
            </a:r>
            <a:r>
              <a:rPr lang="en-US" sz="1800" err="1">
                <a:ea typeface="+mn-lt"/>
                <a:cs typeface="+mn-lt"/>
              </a:rPr>
              <a:t>d’autres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langages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ce</a:t>
            </a:r>
            <a:r>
              <a:rPr lang="en-US" sz="1800">
                <a:ea typeface="+mn-lt"/>
                <a:cs typeface="+mn-lt"/>
              </a:rPr>
              <a:t> qui </a:t>
            </a:r>
            <a:r>
              <a:rPr lang="en-US" sz="1800" err="1">
                <a:ea typeface="+mn-lt"/>
                <a:cs typeface="+mn-lt"/>
              </a:rPr>
              <a:t>signifie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moins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err="1">
                <a:ea typeface="+mn-lt"/>
                <a:cs typeface="+mn-lt"/>
              </a:rPr>
              <a:t>changements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soudains</a:t>
            </a:r>
            <a:r>
              <a:rPr lang="en-US" sz="1800">
                <a:ea typeface="+mn-lt"/>
                <a:cs typeface="+mn-lt"/>
              </a:rPr>
              <a:t> à </a:t>
            </a:r>
            <a:r>
              <a:rPr lang="en-US" sz="1800" err="1">
                <a:ea typeface="+mn-lt"/>
                <a:cs typeface="+mn-lt"/>
              </a:rPr>
              <a:t>apprendre</a:t>
            </a:r>
            <a:r>
              <a:rPr lang="en-US" sz="1800">
                <a:ea typeface="+mn-lt"/>
                <a:cs typeface="+mn-lt"/>
              </a:rPr>
              <a:t> et </a:t>
            </a:r>
            <a:r>
              <a:rPr lang="en-US" sz="1800" err="1">
                <a:ea typeface="+mn-lt"/>
                <a:cs typeface="+mn-lt"/>
              </a:rPr>
              <a:t>une</a:t>
            </a:r>
            <a:r>
              <a:rPr lang="en-US" sz="1800">
                <a:ea typeface="+mn-lt"/>
                <a:cs typeface="+mn-lt"/>
              </a:rPr>
              <a:t> base </a:t>
            </a:r>
            <a:r>
              <a:rPr lang="en-US" sz="1800" err="1">
                <a:ea typeface="+mn-lt"/>
                <a:cs typeface="+mn-lt"/>
              </a:rPr>
              <a:t>solide</a:t>
            </a:r>
            <a:r>
              <a:rPr lang="en-US" sz="1800">
                <a:ea typeface="+mn-lt"/>
                <a:cs typeface="+mn-lt"/>
              </a:rPr>
              <a:t> de documentation.</a:t>
            </a:r>
            <a:endParaRPr lang="en-US" sz="1800"/>
          </a:p>
          <a:p>
            <a:endParaRPr lang="en-US" sz="1600"/>
          </a:p>
          <a:p>
            <a:endParaRPr lang="en-US" sz="1600"/>
          </a:p>
          <a:p>
            <a:endParaRPr lang="en-US" sz="1700" b="1"/>
          </a:p>
          <a:p>
            <a:pPr marL="0" indent="0">
              <a:buNone/>
            </a:pPr>
            <a:endParaRPr lang="en-US" sz="1700" b="1"/>
          </a:p>
          <a:p>
            <a:pPr marL="0" indent="0">
              <a:buNone/>
            </a:pPr>
            <a:endParaRPr lang="en-US" sz="1700" b="1"/>
          </a:p>
          <a:p>
            <a:endParaRPr lang="en-US" sz="17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2EA20-4300-A3A3-F0C1-EC7FF2324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146" y="295275"/>
            <a:ext cx="3136183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3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8D366-17AC-4670-6B48-8CDAAA1C7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9DE95-7A61-6E7D-684C-AA82AB6A3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5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Pseudo Code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DE4AFF9-25C8-B4A1-EED8-43AC1FFDC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6035040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endParaRPr lang="en-US" sz="1300" b="1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300" b="1">
                <a:solidFill>
                  <a:srgbClr val="FF0000"/>
                </a:solidFill>
                <a:ea typeface="+mn-lt"/>
                <a:cs typeface="+mn-lt"/>
              </a:rPr>
              <a:t>Met </a:t>
            </a:r>
            <a:r>
              <a:rPr lang="en-US" sz="1300" b="1" err="1">
                <a:solidFill>
                  <a:srgbClr val="FF0000"/>
                </a:solidFill>
                <a:ea typeface="+mn-lt"/>
                <a:cs typeface="+mn-lt"/>
              </a:rPr>
              <a:t>avant</a:t>
            </a:r>
            <a:r>
              <a:rPr lang="en-US" sz="1300" b="1">
                <a:solidFill>
                  <a:srgbClr val="FF0000"/>
                </a:solidFill>
                <a:ea typeface="+mn-lt"/>
                <a:cs typeface="+mn-lt"/>
              </a:rPr>
              <a:t> de coder </a:t>
            </a:r>
            <a:r>
              <a:rPr lang="en-US" sz="1300" b="1" err="1">
                <a:solidFill>
                  <a:srgbClr val="FF0000"/>
                </a:solidFill>
                <a:ea typeface="+mn-lt"/>
                <a:cs typeface="+mn-lt"/>
              </a:rPr>
              <a:t>en</a:t>
            </a:r>
            <a:r>
              <a:rPr lang="en-US" sz="1300" b="1">
                <a:solidFill>
                  <a:srgbClr val="FF0000"/>
                </a:solidFill>
                <a:ea typeface="+mn-lt"/>
                <a:cs typeface="+mn-lt"/>
              </a:rPr>
              <a:t> Java, il </a:t>
            </a:r>
            <a:r>
              <a:rPr lang="en-US" sz="1300" b="1" err="1">
                <a:solidFill>
                  <a:srgbClr val="FF0000"/>
                </a:solidFill>
                <a:ea typeface="+mn-lt"/>
                <a:cs typeface="+mn-lt"/>
              </a:rPr>
              <a:t>est</a:t>
            </a:r>
            <a:r>
              <a:rPr lang="en-US" sz="1300" b="1">
                <a:solidFill>
                  <a:srgbClr val="FF0000"/>
                </a:solidFill>
                <a:ea typeface="+mn-lt"/>
                <a:cs typeface="+mn-lt"/>
              </a:rPr>
              <a:t> important de faire du Pseudo-Code</a:t>
            </a:r>
            <a:endParaRPr lang="en-US" sz="1300" b="1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300"/>
              <a:t>Le pseudo code </a:t>
            </a:r>
            <a:r>
              <a:rPr lang="en-US" sz="1300" err="1"/>
              <a:t>est</a:t>
            </a:r>
            <a:r>
              <a:rPr lang="en-US" sz="1300"/>
              <a:t> un </a:t>
            </a:r>
            <a:r>
              <a:rPr lang="en-US" sz="1300" err="1"/>
              <a:t>schéma</a:t>
            </a:r>
            <a:r>
              <a:rPr lang="en-US" sz="1300"/>
              <a:t> de </a:t>
            </a:r>
            <a:r>
              <a:rPr lang="en-US" sz="1300" err="1"/>
              <a:t>programmation</a:t>
            </a:r>
            <a:r>
              <a:rPr lang="en-US" sz="1300"/>
              <a:t> , </a:t>
            </a:r>
            <a:r>
              <a:rPr lang="en-US" sz="1300" err="1"/>
              <a:t>une</a:t>
            </a:r>
            <a:r>
              <a:rPr lang="en-US" sz="1300"/>
              <a:t> première ébauche de </a:t>
            </a:r>
            <a:r>
              <a:rPr lang="en-US" sz="1300" err="1"/>
              <a:t>votre</a:t>
            </a:r>
            <a:r>
              <a:rPr lang="en-US" sz="1300"/>
              <a:t> </a:t>
            </a:r>
            <a:r>
              <a:rPr lang="en-US" sz="1300" err="1"/>
              <a:t>algorithme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>
              <a:lnSpc>
                <a:spcPct val="110000"/>
              </a:lnSpc>
            </a:pPr>
            <a:r>
              <a:rPr lang="en-US" sz="1300"/>
              <a:t>Le pseudo code </a:t>
            </a:r>
            <a:r>
              <a:rPr lang="en-US" sz="1300" err="1"/>
              <a:t>permet</a:t>
            </a:r>
            <a:r>
              <a:rPr lang="en-US" sz="1300"/>
              <a:t> </a:t>
            </a:r>
            <a:r>
              <a:rPr lang="en-US" sz="1300" err="1"/>
              <a:t>aussi</a:t>
            </a:r>
            <a:r>
              <a:rPr lang="en-US" sz="1300"/>
              <a:t> de </a:t>
            </a:r>
            <a:r>
              <a:rPr lang="en-US" sz="1300" err="1"/>
              <a:t>travailler</a:t>
            </a:r>
            <a:r>
              <a:rPr lang="en-US" sz="1300"/>
              <a:t> </a:t>
            </a:r>
            <a:r>
              <a:rPr lang="en-US" sz="1300" err="1"/>
              <a:t>votre</a:t>
            </a:r>
            <a:r>
              <a:rPr lang="en-US" sz="1300"/>
              <a:t> </a:t>
            </a:r>
            <a:r>
              <a:rPr lang="en-US" sz="1300" err="1"/>
              <a:t>logique</a:t>
            </a:r>
            <a:r>
              <a:rPr lang="en-US" sz="1300"/>
              <a:t> de </a:t>
            </a:r>
            <a:r>
              <a:rPr lang="en-US" sz="1300" err="1"/>
              <a:t>programamtion</a:t>
            </a:r>
            <a:r>
              <a:rPr lang="en-US" sz="1300"/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>
              <a:lnSpc>
                <a:spcPct val="110000"/>
              </a:lnSpc>
            </a:pPr>
            <a:r>
              <a:rPr lang="en-US" sz="1300"/>
              <a:t>Le but </a:t>
            </a:r>
            <a:r>
              <a:rPr lang="en-US" sz="1300" err="1"/>
              <a:t>est</a:t>
            </a:r>
            <a:r>
              <a:rPr lang="en-US" sz="1300"/>
              <a:t> d'être capable </a:t>
            </a:r>
            <a:r>
              <a:rPr lang="en-US" sz="1300" err="1"/>
              <a:t>d'interprété</a:t>
            </a:r>
            <a:r>
              <a:rPr lang="en-US" sz="1300"/>
              <a:t> </a:t>
            </a:r>
            <a:r>
              <a:rPr lang="en-US" sz="1300" err="1"/>
              <a:t>votre</a:t>
            </a:r>
            <a:r>
              <a:rPr lang="en-US" sz="1300"/>
              <a:t> propre code et de savoir </a:t>
            </a:r>
            <a:r>
              <a:rPr lang="en-US" sz="1300" err="1"/>
              <a:t>en</a:t>
            </a:r>
            <a:r>
              <a:rPr lang="en-US" sz="1300"/>
              <a:t> </a:t>
            </a:r>
            <a:r>
              <a:rPr lang="en-US" sz="1300" err="1"/>
              <a:t>avance</a:t>
            </a:r>
            <a:r>
              <a:rPr lang="en-US" sz="1300"/>
              <a:t> le </a:t>
            </a:r>
            <a:r>
              <a:rPr lang="en-US" sz="1300" err="1"/>
              <a:t>résultat</a:t>
            </a:r>
            <a:r>
              <a:rPr lang="en-US" sz="1300"/>
              <a:t> </a:t>
            </a:r>
            <a:r>
              <a:rPr lang="en-US" sz="1300" err="1"/>
              <a:t>attendu</a:t>
            </a:r>
            <a:r>
              <a:rPr lang="en-US" sz="1300"/>
              <a:t>.</a:t>
            </a:r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r>
              <a:rPr lang="en-US" sz="1300"/>
              <a:t>Faire du pseudo code </a:t>
            </a:r>
            <a:r>
              <a:rPr lang="en-US" sz="1300" err="1"/>
              <a:t>vous</a:t>
            </a:r>
            <a:r>
              <a:rPr lang="en-US" sz="1300"/>
              <a:t> </a:t>
            </a:r>
            <a:r>
              <a:rPr lang="en-US" sz="1300" err="1"/>
              <a:t>permet</a:t>
            </a:r>
            <a:r>
              <a:rPr lang="en-US" sz="1300"/>
              <a:t> </a:t>
            </a:r>
            <a:r>
              <a:rPr lang="en-US" sz="1300" err="1"/>
              <a:t>aussi</a:t>
            </a:r>
            <a:r>
              <a:rPr lang="en-US" sz="1300"/>
              <a:t> de limiter des </a:t>
            </a:r>
            <a:r>
              <a:rPr lang="en-US" sz="1300" err="1"/>
              <a:t>erreurs</a:t>
            </a:r>
            <a:r>
              <a:rPr lang="en-US" sz="1300"/>
              <a:t> dans </a:t>
            </a:r>
            <a:r>
              <a:rPr lang="en-US" sz="1300" err="1"/>
              <a:t>votre</a:t>
            </a:r>
            <a:r>
              <a:rPr lang="en-US" sz="1300"/>
              <a:t> code.</a:t>
            </a:r>
          </a:p>
          <a:p>
            <a:pPr>
              <a:lnSpc>
                <a:spcPct val="110000"/>
              </a:lnSpc>
            </a:pPr>
            <a:endParaRPr lang="en-US" sz="1300" i="1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>
              <a:lnSpc>
                <a:spcPct val="110000"/>
              </a:lnSpc>
            </a:pPr>
            <a:endParaRPr lang="en-US" sz="13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07D77-47CB-9959-C65E-5F1CD0D4F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324" y="0"/>
            <a:ext cx="4878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4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39F59-58E7-20D2-56EB-B751C3CBB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E1971F3-C306-A6A6-1562-057BE1A2B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8F034-7690-2747-3C7B-27050E5FB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80975"/>
            <a:ext cx="6035040" cy="1015582"/>
          </a:xfrm>
        </p:spPr>
        <p:txBody>
          <a:bodyPr anchor="b">
            <a:normAutofit/>
          </a:bodyPr>
          <a:lstStyle/>
          <a:p>
            <a:r>
              <a:rPr lang="en-US"/>
              <a:t>Types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59496C-BEA6-F05B-5622-398217B4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699" y="1433202"/>
            <a:ext cx="2329815" cy="50013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1300" b="1">
              <a:ea typeface="+mn-lt"/>
              <a:cs typeface="+mn-lt"/>
            </a:endParaRPr>
          </a:p>
          <a:p>
            <a:r>
              <a:rPr lang="en-US" sz="1300">
                <a:ea typeface="+mn-lt"/>
                <a:cs typeface="+mn-lt"/>
              </a:rPr>
              <a:t>Les </a:t>
            </a:r>
            <a:r>
              <a:rPr lang="en-US" sz="1300" b="1">
                <a:ea typeface="+mn-lt"/>
                <a:cs typeface="+mn-lt"/>
              </a:rPr>
              <a:t>types de variables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permettent</a:t>
            </a:r>
            <a:r>
              <a:rPr lang="en-US" sz="1300">
                <a:ea typeface="+mn-lt"/>
                <a:cs typeface="+mn-lt"/>
              </a:rPr>
              <a:t> de </a:t>
            </a:r>
            <a:r>
              <a:rPr lang="en-US" sz="1300" err="1">
                <a:ea typeface="+mn-lt"/>
                <a:cs typeface="+mn-lt"/>
              </a:rPr>
              <a:t>définir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b="1">
                <a:ea typeface="+mn-lt"/>
                <a:cs typeface="+mn-lt"/>
              </a:rPr>
              <a:t>la nature des données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qu’une</a:t>
            </a:r>
            <a:r>
              <a:rPr lang="en-US" sz="1300">
                <a:ea typeface="+mn-lt"/>
                <a:cs typeface="+mn-lt"/>
              </a:rPr>
              <a:t> variable </a:t>
            </a:r>
            <a:r>
              <a:rPr lang="en-US" sz="1300" err="1">
                <a:ea typeface="+mn-lt"/>
                <a:cs typeface="+mn-lt"/>
              </a:rPr>
              <a:t>peut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contenir</a:t>
            </a:r>
            <a:r>
              <a:rPr lang="en-US" sz="1300">
                <a:ea typeface="+mn-lt"/>
                <a:cs typeface="+mn-lt"/>
              </a:rPr>
              <a:t> (ex : un </a:t>
            </a:r>
            <a:r>
              <a:rPr lang="en-US" sz="1300" err="1">
                <a:ea typeface="+mn-lt"/>
                <a:cs typeface="+mn-lt"/>
              </a:rPr>
              <a:t>nombre</a:t>
            </a:r>
            <a:r>
              <a:rPr lang="en-US" sz="1300">
                <a:ea typeface="+mn-lt"/>
                <a:cs typeface="+mn-lt"/>
              </a:rPr>
              <a:t>, un </a:t>
            </a:r>
            <a:r>
              <a:rPr lang="en-US" sz="1300" err="1">
                <a:ea typeface="+mn-lt"/>
                <a:cs typeface="+mn-lt"/>
              </a:rPr>
              <a:t>texte</a:t>
            </a:r>
            <a:r>
              <a:rPr lang="en-US" sz="1300">
                <a:ea typeface="+mn-lt"/>
                <a:cs typeface="+mn-lt"/>
              </a:rPr>
              <a:t>, un </a:t>
            </a:r>
            <a:r>
              <a:rPr lang="en-US" sz="1300" err="1">
                <a:ea typeface="+mn-lt"/>
                <a:cs typeface="+mn-lt"/>
              </a:rPr>
              <a:t>vrai</a:t>
            </a:r>
            <a:r>
              <a:rPr lang="en-US" sz="1300">
                <a:ea typeface="+mn-lt"/>
                <a:cs typeface="+mn-lt"/>
              </a:rPr>
              <a:t>/faux…).</a:t>
            </a:r>
            <a:br>
              <a:rPr lang="en-US" sz="1300">
                <a:ea typeface="+mn-lt"/>
                <a:cs typeface="+mn-lt"/>
              </a:rPr>
            </a:br>
            <a:r>
              <a:rPr lang="en-US" sz="1300">
                <a:ea typeface="+mn-lt"/>
                <a:cs typeface="+mn-lt"/>
              </a:rPr>
              <a:t> </a:t>
            </a:r>
          </a:p>
          <a:p>
            <a:r>
              <a:rPr lang="en-US" sz="1300">
                <a:ea typeface="+mn-lt"/>
                <a:cs typeface="+mn-lt"/>
              </a:rPr>
              <a:t>Cela </a:t>
            </a:r>
            <a:r>
              <a:rPr lang="en-US" sz="1300" err="1">
                <a:ea typeface="+mn-lt"/>
                <a:cs typeface="+mn-lt"/>
              </a:rPr>
              <a:t>permet</a:t>
            </a:r>
            <a:r>
              <a:rPr lang="en-US" sz="1300">
                <a:ea typeface="+mn-lt"/>
                <a:cs typeface="+mn-lt"/>
              </a:rPr>
              <a:t> à </a:t>
            </a:r>
            <a:r>
              <a:rPr lang="en-US" sz="1300" err="1">
                <a:ea typeface="+mn-lt"/>
                <a:cs typeface="+mn-lt"/>
              </a:rPr>
              <a:t>l’ordinateur</a:t>
            </a:r>
            <a:r>
              <a:rPr lang="en-US" sz="1300">
                <a:ea typeface="+mn-lt"/>
                <a:cs typeface="+mn-lt"/>
              </a:rPr>
              <a:t> de savoir </a:t>
            </a:r>
            <a:r>
              <a:rPr lang="en-US" sz="1300" b="1">
                <a:ea typeface="+mn-lt"/>
                <a:cs typeface="+mn-lt"/>
              </a:rPr>
              <a:t>comment </a:t>
            </a:r>
            <a:r>
              <a:rPr lang="en-US" sz="1300" b="1" err="1">
                <a:ea typeface="+mn-lt"/>
                <a:cs typeface="+mn-lt"/>
              </a:rPr>
              <a:t>traiter</a:t>
            </a:r>
            <a:r>
              <a:rPr lang="en-US" sz="1300" b="1">
                <a:ea typeface="+mn-lt"/>
                <a:cs typeface="+mn-lt"/>
              </a:rPr>
              <a:t> la donnée</a:t>
            </a:r>
            <a:r>
              <a:rPr lang="en-US" sz="1300">
                <a:ea typeface="+mn-lt"/>
                <a:cs typeface="+mn-lt"/>
              </a:rPr>
              <a:t>, </a:t>
            </a:r>
            <a:r>
              <a:rPr lang="en-US" sz="1300" b="1" err="1">
                <a:ea typeface="+mn-lt"/>
                <a:cs typeface="+mn-lt"/>
              </a:rPr>
              <a:t>quelles</a:t>
            </a:r>
            <a:r>
              <a:rPr lang="en-US" sz="1300" b="1">
                <a:ea typeface="+mn-lt"/>
                <a:cs typeface="+mn-lt"/>
              </a:rPr>
              <a:t> </a:t>
            </a:r>
            <a:r>
              <a:rPr lang="en-US" sz="1300" b="1" err="1">
                <a:ea typeface="+mn-lt"/>
                <a:cs typeface="+mn-lt"/>
              </a:rPr>
              <a:t>opérations</a:t>
            </a:r>
            <a:r>
              <a:rPr lang="en-US" sz="1300" b="1">
                <a:ea typeface="+mn-lt"/>
                <a:cs typeface="+mn-lt"/>
              </a:rPr>
              <a:t> </a:t>
            </a:r>
            <a:r>
              <a:rPr lang="en-US" sz="1300" b="1" err="1">
                <a:ea typeface="+mn-lt"/>
                <a:cs typeface="+mn-lt"/>
              </a:rPr>
              <a:t>sont</a:t>
            </a:r>
            <a:r>
              <a:rPr lang="en-US" sz="1300" b="1">
                <a:ea typeface="+mn-lt"/>
                <a:cs typeface="+mn-lt"/>
              </a:rPr>
              <a:t> </a:t>
            </a:r>
            <a:r>
              <a:rPr lang="en-US" sz="1300" b="1" err="1">
                <a:ea typeface="+mn-lt"/>
                <a:cs typeface="+mn-lt"/>
              </a:rPr>
              <a:t>autorisées</a:t>
            </a:r>
            <a:r>
              <a:rPr lang="en-US" sz="1300">
                <a:ea typeface="+mn-lt"/>
                <a:cs typeface="+mn-lt"/>
              </a:rPr>
              <a:t>, et de </a:t>
            </a:r>
            <a:r>
              <a:rPr lang="en-US" sz="1300" b="1" err="1">
                <a:ea typeface="+mn-lt"/>
                <a:cs typeface="+mn-lt"/>
              </a:rPr>
              <a:t>prévenir</a:t>
            </a:r>
            <a:r>
              <a:rPr lang="en-US" sz="1300" b="1">
                <a:ea typeface="+mn-lt"/>
                <a:cs typeface="+mn-lt"/>
              </a:rPr>
              <a:t> </a:t>
            </a:r>
            <a:r>
              <a:rPr lang="en-US" sz="1300" b="1" err="1">
                <a:ea typeface="+mn-lt"/>
                <a:cs typeface="+mn-lt"/>
              </a:rPr>
              <a:t>certaines</a:t>
            </a:r>
            <a:r>
              <a:rPr lang="en-US" sz="1300" b="1">
                <a:ea typeface="+mn-lt"/>
                <a:cs typeface="+mn-lt"/>
              </a:rPr>
              <a:t> </a:t>
            </a:r>
            <a:r>
              <a:rPr lang="en-US" sz="1300" b="1" err="1">
                <a:ea typeface="+mn-lt"/>
                <a:cs typeface="+mn-lt"/>
              </a:rPr>
              <a:t>erreurs</a:t>
            </a:r>
            <a:r>
              <a:rPr lang="en-US" sz="1300">
                <a:ea typeface="+mn-lt"/>
                <a:cs typeface="+mn-lt"/>
              </a:rPr>
              <a:t>.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285750" indent="-285750">
              <a:lnSpc>
                <a:spcPct val="110000"/>
              </a:lnSpc>
            </a:pPr>
            <a:endParaRPr lang="en-US" sz="1300"/>
          </a:p>
          <a:p>
            <a:pPr marL="285750" indent="-285750">
              <a:lnSpc>
                <a:spcPct val="110000"/>
              </a:lnSpc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 i="1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>
              <a:lnSpc>
                <a:spcPct val="110000"/>
              </a:lnSpc>
            </a:pPr>
            <a:endParaRPr lang="en-US" sz="13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0E2E3-0811-C1F0-89B4-07F00FA1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025" y="1433513"/>
            <a:ext cx="871537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87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F0EC7-33D1-E779-4D85-16FABF0AE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16C10BF-4E0A-59FA-17A3-9EF4AEA32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F99B3D-6B89-4F2B-09DB-BC3B73D0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80975"/>
            <a:ext cx="6035040" cy="1015582"/>
          </a:xfrm>
        </p:spPr>
        <p:txBody>
          <a:bodyPr anchor="b">
            <a:normAutofit/>
          </a:bodyPr>
          <a:lstStyle/>
          <a:p>
            <a:r>
              <a:rPr lang="en-US" err="1"/>
              <a:t>Opérateurs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C540E9-D127-B318-65CD-45C86323C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431798"/>
            <a:ext cx="2329815" cy="50013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1300" b="1">
              <a:ea typeface="+mn-lt"/>
              <a:cs typeface="+mn-lt"/>
            </a:endParaRPr>
          </a:p>
          <a:p>
            <a:r>
              <a:rPr lang="en-US" sz="1300">
                <a:ea typeface="+mn-lt"/>
                <a:cs typeface="+mn-lt"/>
              </a:rPr>
              <a:t>Les </a:t>
            </a:r>
            <a:r>
              <a:rPr lang="en-US" sz="1300" b="1" err="1">
                <a:ea typeface="+mn-lt"/>
                <a:cs typeface="+mn-lt"/>
              </a:rPr>
              <a:t>opérateurs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en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algorithmie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servent</a:t>
            </a:r>
            <a:r>
              <a:rPr lang="en-US" sz="1300">
                <a:ea typeface="+mn-lt"/>
                <a:cs typeface="+mn-lt"/>
              </a:rPr>
              <a:t> à </a:t>
            </a:r>
            <a:r>
              <a:rPr lang="en-US" sz="1300" b="1" err="1">
                <a:ea typeface="+mn-lt"/>
                <a:cs typeface="+mn-lt"/>
              </a:rPr>
              <a:t>effectuer</a:t>
            </a:r>
            <a:r>
              <a:rPr lang="en-US" sz="1300" b="1">
                <a:ea typeface="+mn-lt"/>
                <a:cs typeface="+mn-lt"/>
              </a:rPr>
              <a:t> des </a:t>
            </a:r>
            <a:r>
              <a:rPr lang="en-US" sz="1300" b="1" err="1">
                <a:ea typeface="+mn-lt"/>
                <a:cs typeface="+mn-lt"/>
              </a:rPr>
              <a:t>opérations</a:t>
            </a:r>
            <a:r>
              <a:rPr lang="en-US" sz="1300">
                <a:ea typeface="+mn-lt"/>
                <a:cs typeface="+mn-lt"/>
              </a:rPr>
              <a:t> sur des variables </a:t>
            </a:r>
            <a:r>
              <a:rPr lang="en-US" sz="1300" err="1">
                <a:ea typeface="+mn-lt"/>
                <a:cs typeface="+mn-lt"/>
              </a:rPr>
              <a:t>ou</a:t>
            </a:r>
            <a:r>
              <a:rPr lang="en-US" sz="1300">
                <a:ea typeface="+mn-lt"/>
                <a:cs typeface="+mn-lt"/>
              </a:rPr>
              <a:t> des </a:t>
            </a:r>
            <a:r>
              <a:rPr lang="en-US" sz="1300" err="1">
                <a:ea typeface="+mn-lt"/>
                <a:cs typeface="+mn-lt"/>
              </a:rPr>
              <a:t>valeurs</a:t>
            </a:r>
            <a:r>
              <a:rPr lang="en-US" sz="13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/>
          </a:p>
          <a:p>
            <a:r>
              <a:rPr lang="en-US" sz="1300" err="1">
                <a:ea typeface="+mn-lt"/>
                <a:cs typeface="+mn-lt"/>
              </a:rPr>
              <a:t>Ils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sont</a:t>
            </a:r>
            <a:r>
              <a:rPr lang="en-US" sz="1300">
                <a:ea typeface="+mn-lt"/>
                <a:cs typeface="+mn-lt"/>
              </a:rPr>
              <a:t> indispensables pour </a:t>
            </a:r>
            <a:r>
              <a:rPr lang="en-US" sz="1300" err="1">
                <a:ea typeface="+mn-lt"/>
                <a:cs typeface="+mn-lt"/>
              </a:rPr>
              <a:t>manipuler</a:t>
            </a:r>
            <a:r>
              <a:rPr lang="en-US" sz="1300">
                <a:ea typeface="+mn-lt"/>
                <a:cs typeface="+mn-lt"/>
              </a:rPr>
              <a:t> les données, faire des </a:t>
            </a:r>
            <a:r>
              <a:rPr lang="en-US" sz="1300" err="1">
                <a:ea typeface="+mn-lt"/>
                <a:cs typeface="+mn-lt"/>
              </a:rPr>
              <a:t>calculs</a:t>
            </a:r>
            <a:r>
              <a:rPr lang="en-US" sz="1300">
                <a:ea typeface="+mn-lt"/>
                <a:cs typeface="+mn-lt"/>
              </a:rPr>
              <a:t>, comparer des </a:t>
            </a:r>
            <a:r>
              <a:rPr lang="en-US" sz="1300" err="1">
                <a:ea typeface="+mn-lt"/>
                <a:cs typeface="+mn-lt"/>
              </a:rPr>
              <a:t>valeurs</a:t>
            </a:r>
            <a:r>
              <a:rPr lang="en-US" sz="1300">
                <a:ea typeface="+mn-lt"/>
                <a:cs typeface="+mn-lt"/>
              </a:rPr>
              <a:t>, prendre des </a:t>
            </a:r>
            <a:r>
              <a:rPr lang="en-US" sz="1300" err="1">
                <a:ea typeface="+mn-lt"/>
                <a:cs typeface="+mn-lt"/>
              </a:rPr>
              <a:t>décisions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ou</a:t>
            </a:r>
            <a:r>
              <a:rPr lang="en-US" sz="1300">
                <a:ea typeface="+mn-lt"/>
                <a:cs typeface="+mn-lt"/>
              </a:rPr>
              <a:t> encore modifier des </a:t>
            </a:r>
            <a:r>
              <a:rPr lang="en-US" sz="1300" err="1">
                <a:ea typeface="+mn-lt"/>
                <a:cs typeface="+mn-lt"/>
              </a:rPr>
              <a:t>contenus</a:t>
            </a:r>
            <a:r>
              <a:rPr lang="en-US" sz="130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sz="1300" b="1">
                <a:solidFill>
                  <a:srgbClr val="FF0000"/>
                </a:solidFill>
              </a:rPr>
              <a:t>Deuxième </a:t>
            </a:r>
            <a:r>
              <a:rPr lang="en-US" sz="1300" b="1" err="1">
                <a:solidFill>
                  <a:srgbClr val="FF0000"/>
                </a:solidFill>
              </a:rPr>
              <a:t>partie</a:t>
            </a:r>
            <a:r>
              <a:rPr lang="en-US" sz="1300" b="1">
                <a:solidFill>
                  <a:srgbClr val="FF0000"/>
                </a:solidFill>
              </a:rPr>
              <a:t> du tableau page </a:t>
            </a:r>
            <a:r>
              <a:rPr lang="en-US" sz="1300" b="1" err="1">
                <a:solidFill>
                  <a:srgbClr val="FF0000"/>
                </a:solidFill>
              </a:rPr>
              <a:t>suivante</a:t>
            </a:r>
            <a:r>
              <a:rPr lang="en-US" sz="1300" b="1">
                <a:solidFill>
                  <a:srgbClr val="FF0000"/>
                </a:solidFill>
              </a:rPr>
              <a:t> =&gt;</a:t>
            </a:r>
          </a:p>
          <a:p>
            <a:pPr marL="285750" indent="-285750">
              <a:lnSpc>
                <a:spcPct val="110000"/>
              </a:lnSpc>
            </a:pPr>
            <a:endParaRPr lang="en-US" sz="1300"/>
          </a:p>
          <a:p>
            <a:pPr marL="285750" indent="-285750">
              <a:lnSpc>
                <a:spcPct val="110000"/>
              </a:lnSpc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 i="1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/>
          </a:p>
          <a:p>
            <a:pPr>
              <a:lnSpc>
                <a:spcPct val="110000"/>
              </a:lnSpc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 marL="0" indent="0">
              <a:lnSpc>
                <a:spcPct val="110000"/>
              </a:lnSpc>
              <a:buNone/>
            </a:pPr>
            <a:endParaRPr lang="en-US" sz="1300" b="1"/>
          </a:p>
          <a:p>
            <a:pPr>
              <a:lnSpc>
                <a:spcPct val="110000"/>
              </a:lnSpc>
            </a:pPr>
            <a:endParaRPr lang="en-US" sz="13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4E52C-B7DE-7102-5CE8-801C038F7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49" y="982620"/>
            <a:ext cx="8684225" cy="522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38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CB80C-70ED-10DA-6FF6-B5DE443B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E05FB4E-4864-0DF8-9DCF-95893D42B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B5345-1AC1-E87C-4E39-10D5505C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80975"/>
            <a:ext cx="6035040" cy="1015582"/>
          </a:xfrm>
        </p:spPr>
        <p:txBody>
          <a:bodyPr anchor="b">
            <a:normAutofit/>
          </a:bodyPr>
          <a:lstStyle/>
          <a:p>
            <a:r>
              <a:rPr lang="en-US" err="1"/>
              <a:t>Opérateurs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917F5-47B2-798F-C7E1-4B5EC185F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38" y="1509713"/>
            <a:ext cx="9829800" cy="4533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DB3020-CF17-2934-8206-232FAC9C2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825" y="6157913"/>
            <a:ext cx="54102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78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C9AC81-D6BB-D35F-1D4E-6DEB5C0B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D8EBD4CC-13E7-9C8C-1E2E-8ACF5C501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+mn-lt"/>
              <a:cs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1ADDB-19C2-23D0-A33F-F56839E1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Scanner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D13CD1-2E59-8E51-27B3-A45018F78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14009"/>
            <a:ext cx="6035040" cy="5146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Un </a:t>
            </a:r>
            <a:r>
              <a:rPr lang="en-US" sz="1800" b="1">
                <a:ea typeface="+mn-lt"/>
                <a:cs typeface="+mn-lt"/>
              </a:rPr>
              <a:t>Scanner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c’est</a:t>
            </a:r>
            <a:r>
              <a:rPr lang="en-US" sz="1800">
                <a:ea typeface="+mn-lt"/>
                <a:cs typeface="+mn-lt"/>
              </a:rPr>
              <a:t> un </a:t>
            </a:r>
            <a:r>
              <a:rPr lang="en-US" sz="1800" b="1" err="1">
                <a:ea typeface="+mn-lt"/>
                <a:cs typeface="+mn-lt"/>
              </a:rPr>
              <a:t>objet</a:t>
            </a:r>
            <a:r>
              <a:rPr lang="en-US" sz="1800">
                <a:ea typeface="+mn-lt"/>
                <a:cs typeface="+mn-lt"/>
              </a:rPr>
              <a:t> (dans </a:t>
            </a:r>
            <a:r>
              <a:rPr lang="en-US" sz="1800" err="1">
                <a:ea typeface="+mn-lt"/>
                <a:cs typeface="+mn-lt"/>
              </a:rPr>
              <a:t>certains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langages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comme</a:t>
            </a:r>
            <a:r>
              <a:rPr lang="en-US" sz="1800">
                <a:ea typeface="+mn-lt"/>
                <a:cs typeface="+mn-lt"/>
              </a:rPr>
              <a:t> Java) </a:t>
            </a:r>
            <a:r>
              <a:rPr lang="en-US" sz="1800" err="1">
                <a:ea typeface="+mn-lt"/>
                <a:cs typeface="+mn-lt"/>
              </a:rPr>
              <a:t>ou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une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fonction</a:t>
            </a:r>
            <a:r>
              <a:rPr lang="en-US" sz="1800">
                <a:ea typeface="+mn-lt"/>
                <a:cs typeface="+mn-lt"/>
              </a:rPr>
              <a:t> qui </a:t>
            </a:r>
            <a:r>
              <a:rPr lang="en-US" sz="1800" err="1">
                <a:ea typeface="+mn-lt"/>
                <a:cs typeface="+mn-lt"/>
              </a:rPr>
              <a:t>permet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b="1" err="1">
                <a:ea typeface="+mn-lt"/>
                <a:cs typeface="+mn-lt"/>
              </a:rPr>
              <a:t>récupérer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ce</a:t>
            </a:r>
            <a:r>
              <a:rPr lang="en-US" sz="1800" b="1">
                <a:ea typeface="+mn-lt"/>
                <a:cs typeface="+mn-lt"/>
              </a:rPr>
              <a:t> que </a:t>
            </a:r>
            <a:r>
              <a:rPr lang="en-US" sz="1800" b="1" err="1">
                <a:ea typeface="+mn-lt"/>
                <a:cs typeface="+mn-lt"/>
              </a:rPr>
              <a:t>l’utilisateur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saisit</a:t>
            </a:r>
            <a:r>
              <a:rPr lang="en-US" sz="1800">
                <a:ea typeface="+mn-lt"/>
                <a:cs typeface="+mn-lt"/>
              </a:rPr>
              <a:t>, pour ensuite </a:t>
            </a:r>
            <a:r>
              <a:rPr lang="en-US" sz="1800" err="1">
                <a:ea typeface="+mn-lt"/>
                <a:cs typeface="+mn-lt"/>
              </a:rPr>
              <a:t>l’utiliser</a:t>
            </a:r>
            <a:r>
              <a:rPr lang="en-US" sz="1800">
                <a:ea typeface="+mn-lt"/>
                <a:cs typeface="+mn-lt"/>
              </a:rPr>
              <a:t> dans le </a:t>
            </a:r>
            <a:r>
              <a:rPr lang="en-US" sz="1800" err="1">
                <a:ea typeface="+mn-lt"/>
                <a:cs typeface="+mn-lt"/>
              </a:rPr>
              <a:t>programme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 b="1"/>
          </a:p>
          <a:p>
            <a:pPr marL="285750" indent="-285750"/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2C2532-C140-1428-D4D0-1BED307CB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7517" y="3200631"/>
            <a:ext cx="8218273" cy="3327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DDCD70-4561-DAA0-9B72-10D908465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25" y="3149171"/>
            <a:ext cx="6089306" cy="354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46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A6AA5-B06B-EC0A-D661-2920CBC3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40CF0-C716-9F38-BE13-05D134D0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Condition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12CDC5-0F6E-6485-9766-9E920CAC4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7577"/>
            <a:ext cx="6035040" cy="514683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En </a:t>
            </a:r>
            <a:r>
              <a:rPr lang="en-US" sz="1800" b="1" err="1">
                <a:ea typeface="+mn-lt"/>
                <a:cs typeface="+mn-lt"/>
              </a:rPr>
              <a:t>algorithmie</a:t>
            </a:r>
            <a:r>
              <a:rPr lang="en-US" sz="1800">
                <a:ea typeface="+mn-lt"/>
                <a:cs typeface="+mn-lt"/>
              </a:rPr>
              <a:t>, les </a:t>
            </a:r>
            <a:r>
              <a:rPr lang="en-US" sz="1800" b="1">
                <a:ea typeface="+mn-lt"/>
                <a:cs typeface="+mn-lt"/>
              </a:rPr>
              <a:t>conditions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permettent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b="1">
                <a:ea typeface="+mn-lt"/>
                <a:cs typeface="+mn-lt"/>
              </a:rPr>
              <a:t>prendre des </a:t>
            </a:r>
            <a:r>
              <a:rPr lang="en-US" sz="1800" b="1" err="1">
                <a:ea typeface="+mn-lt"/>
                <a:cs typeface="+mn-lt"/>
              </a:rPr>
              <a:t>décisions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 Elles </a:t>
            </a:r>
            <a:r>
              <a:rPr lang="en-US" sz="1800" err="1">
                <a:ea typeface="+mn-lt"/>
                <a:cs typeface="+mn-lt"/>
              </a:rPr>
              <a:t>indiquent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b="1">
                <a:ea typeface="+mn-lt"/>
                <a:cs typeface="+mn-lt"/>
              </a:rPr>
              <a:t>quoi faire </a:t>
            </a:r>
            <a:r>
              <a:rPr lang="en-US" sz="1800" b="1" err="1">
                <a:ea typeface="+mn-lt"/>
                <a:cs typeface="+mn-lt"/>
              </a:rPr>
              <a:t>selon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qu’une</a:t>
            </a:r>
            <a:r>
              <a:rPr lang="en-US" sz="1800" b="1">
                <a:ea typeface="+mn-lt"/>
                <a:cs typeface="+mn-lt"/>
              </a:rPr>
              <a:t> situation </a:t>
            </a:r>
            <a:r>
              <a:rPr lang="en-US" sz="1800" b="1" err="1">
                <a:ea typeface="+mn-lt"/>
                <a:cs typeface="+mn-lt"/>
              </a:rPr>
              <a:t>est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vraie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ou</a:t>
            </a:r>
            <a:r>
              <a:rPr lang="en-US" sz="1800" b="1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fausse</a:t>
            </a:r>
            <a:r>
              <a:rPr lang="en-US" sz="1800">
                <a:ea typeface="+mn-lt"/>
                <a:cs typeface="+mn-lt"/>
              </a:rPr>
              <a:t>. </a:t>
            </a:r>
          </a:p>
          <a:p>
            <a:pPr marL="0" indent="0">
              <a:buNone/>
            </a:pPr>
            <a:endParaRPr lang="en-US" sz="18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err="1">
                <a:ea typeface="+mn-lt"/>
                <a:cs typeface="+mn-lt"/>
              </a:rPr>
              <a:t>C’est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ce</a:t>
            </a:r>
            <a:r>
              <a:rPr lang="en-US" sz="1800">
                <a:ea typeface="+mn-lt"/>
                <a:cs typeface="+mn-lt"/>
              </a:rPr>
              <a:t> qui rend un </a:t>
            </a:r>
            <a:r>
              <a:rPr lang="en-US" sz="1800" err="1">
                <a:ea typeface="+mn-lt"/>
                <a:cs typeface="+mn-lt"/>
              </a:rPr>
              <a:t>algorithme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b="1">
                <a:ea typeface="+mn-lt"/>
                <a:cs typeface="+mn-lt"/>
              </a:rPr>
              <a:t>intelligent et </a:t>
            </a:r>
            <a:r>
              <a:rPr lang="en-US" sz="1800" b="1" err="1">
                <a:ea typeface="+mn-lt"/>
                <a:cs typeface="+mn-lt"/>
              </a:rPr>
              <a:t>adaptatif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plutôt</a:t>
            </a:r>
            <a:r>
              <a:rPr lang="en-US" sz="1800">
                <a:ea typeface="+mn-lt"/>
                <a:cs typeface="+mn-lt"/>
              </a:rPr>
              <a:t> que </a:t>
            </a:r>
            <a:r>
              <a:rPr lang="en-US" sz="1800" err="1">
                <a:ea typeface="+mn-lt"/>
                <a:cs typeface="+mn-lt"/>
              </a:rPr>
              <a:t>linéaire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1800"/>
              <a:t>Il faut </a:t>
            </a:r>
            <a:r>
              <a:rPr lang="en-US" sz="1800" err="1"/>
              <a:t>utiliser</a:t>
            </a:r>
            <a:r>
              <a:rPr lang="en-US" sz="1800"/>
              <a:t> le "If" </a:t>
            </a:r>
          </a:p>
          <a:p>
            <a:pPr marL="0" indent="0">
              <a:buNone/>
            </a:pPr>
            <a:endParaRPr lang="en-US" sz="18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If(Instruction) {  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6">
                    <a:lumMod val="76000"/>
                  </a:schemeClr>
                </a:solidFill>
              </a:rPr>
              <a:t>(execution </a:t>
            </a:r>
            <a:r>
              <a:rPr lang="en-US" sz="1800" b="1" err="1">
                <a:solidFill>
                  <a:schemeClr val="accent6">
                    <a:lumMod val="76000"/>
                  </a:schemeClr>
                </a:solidFill>
              </a:rPr>
              <a:t>si</a:t>
            </a:r>
            <a:r>
              <a:rPr lang="en-US" sz="1800" b="1">
                <a:solidFill>
                  <a:schemeClr val="accent6">
                    <a:lumMod val="76000"/>
                  </a:schemeClr>
                </a:solidFill>
              </a:rPr>
              <a:t> VRAI) </a:t>
            </a:r>
            <a:endParaRPr lang="en-US" b="1">
              <a:solidFill>
                <a:schemeClr val="accent6">
                  <a:lumMod val="76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}else if (2e instruction){</a:t>
            </a:r>
          </a:p>
          <a:p>
            <a:pPr marL="0" indent="0">
              <a:buNone/>
            </a:pPr>
            <a:r>
              <a:rPr lang="en-US" sz="1900" b="1">
                <a:solidFill>
                  <a:schemeClr val="accent6">
                    <a:lumMod val="76000"/>
                  </a:schemeClr>
                </a:solidFill>
              </a:rPr>
              <a:t>(execution </a:t>
            </a:r>
            <a:r>
              <a:rPr lang="en-US" sz="1900" b="1" err="1">
                <a:solidFill>
                  <a:schemeClr val="accent6">
                    <a:lumMod val="76000"/>
                  </a:schemeClr>
                </a:solidFill>
              </a:rPr>
              <a:t>si</a:t>
            </a:r>
            <a:r>
              <a:rPr lang="en-US" sz="1900" b="1">
                <a:solidFill>
                  <a:schemeClr val="accent6">
                    <a:lumMod val="76000"/>
                  </a:schemeClr>
                </a:solidFill>
              </a:rPr>
              <a:t> 2e VRAI) 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}else{</a:t>
            </a:r>
            <a:endParaRPr lang="en-US"/>
          </a:p>
          <a:p>
            <a:pPr marL="0" indent="0">
              <a:buNone/>
            </a:pPr>
            <a:r>
              <a:rPr lang="en-US" sz="1800" b="1">
                <a:solidFill>
                  <a:schemeClr val="accent6">
                    <a:lumMod val="76000"/>
                  </a:schemeClr>
                </a:solidFill>
              </a:rPr>
              <a:t>(execution </a:t>
            </a:r>
            <a:r>
              <a:rPr lang="en-US" sz="1800" b="1" err="1">
                <a:solidFill>
                  <a:schemeClr val="accent6">
                    <a:lumMod val="76000"/>
                  </a:schemeClr>
                </a:solidFill>
              </a:rPr>
              <a:t>si</a:t>
            </a:r>
            <a:r>
              <a:rPr lang="en-US" sz="1800" b="1">
                <a:solidFill>
                  <a:schemeClr val="accent6">
                    <a:lumMod val="76000"/>
                  </a:schemeClr>
                </a:solidFill>
              </a:rPr>
              <a:t> FAUX ) </a:t>
            </a:r>
            <a:endParaRPr lang="en-US" b="1">
              <a:solidFill>
                <a:schemeClr val="accent6">
                  <a:lumMod val="76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}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 b="1"/>
          </a:p>
          <a:p>
            <a:pPr marL="285750" indent="-285750"/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F16AAA-6B5D-65C2-CE97-5A7FE5D882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" t="-3153" r="63065" b="3153"/>
          <a:stretch/>
        </p:blipFill>
        <p:spPr>
          <a:xfrm>
            <a:off x="7129438" y="-226531"/>
            <a:ext cx="5059258" cy="709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26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906A8-AAD8-9DAB-DF32-C437A30BD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9678C67-7E95-6DB1-9CAE-A9E392126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2B35E-622B-1431-C46B-DB072271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Condition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2943AD-DED8-E437-59F8-59137A2DC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7577"/>
            <a:ext cx="6035040" cy="5146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Vous </a:t>
            </a:r>
            <a:r>
              <a:rPr lang="en-US" sz="1800" err="1">
                <a:ea typeface="+mn-lt"/>
                <a:cs typeface="+mn-lt"/>
              </a:rPr>
              <a:t>avez</a:t>
            </a:r>
            <a:r>
              <a:rPr lang="en-US" sz="1800">
                <a:ea typeface="+mn-lt"/>
                <a:cs typeface="+mn-lt"/>
              </a:rPr>
              <a:t> deux types de conditions :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800"/>
          </a:p>
          <a:p>
            <a:pPr marL="285750" indent="-285750"/>
            <a:r>
              <a:rPr lang="en-US" sz="1800" b="1"/>
              <a:t>If else : </a:t>
            </a:r>
            <a:r>
              <a:rPr lang="en-US" sz="1800"/>
              <a:t>Si la condition est </a:t>
            </a:r>
            <a:r>
              <a:rPr lang="en-US" sz="1800" err="1"/>
              <a:t>vrai</a:t>
            </a:r>
            <a:r>
              <a:rPr lang="en-US" sz="1800"/>
              <a:t> </a:t>
            </a:r>
            <a:r>
              <a:rPr lang="en-US" sz="1800" err="1"/>
              <a:t>alors</a:t>
            </a:r>
            <a:r>
              <a:rPr lang="en-US" sz="1800"/>
              <a:t> on lance le </a:t>
            </a:r>
            <a:r>
              <a:rPr lang="en-US" sz="1800" err="1"/>
              <a:t>résultat</a:t>
            </a:r>
            <a:r>
              <a:rPr lang="en-US" sz="1800"/>
              <a:t> </a:t>
            </a:r>
            <a:r>
              <a:rPr lang="en-US" sz="1800" err="1"/>
              <a:t>sinon</a:t>
            </a:r>
            <a:r>
              <a:rPr lang="en-US" sz="1800"/>
              <a:t> </a:t>
            </a:r>
            <a:r>
              <a:rPr lang="en-US" sz="1800" err="1"/>
              <a:t>autres</a:t>
            </a:r>
            <a:r>
              <a:rPr lang="en-US" sz="1800"/>
              <a:t> choses.</a:t>
            </a:r>
          </a:p>
          <a:p>
            <a:pPr marL="0" indent="0">
              <a:buNone/>
            </a:pPr>
            <a:endParaRPr lang="en-US" sz="1800"/>
          </a:p>
          <a:p>
            <a:pPr marL="285750" indent="-285750"/>
            <a:r>
              <a:rPr lang="en-US" sz="1800" b="1"/>
              <a:t>Switch : </a:t>
            </a:r>
            <a:r>
              <a:rPr lang="en-US" sz="1800"/>
              <a:t>Change le </a:t>
            </a:r>
            <a:r>
              <a:rPr lang="en-US" sz="1800" err="1"/>
              <a:t>résultat</a:t>
            </a:r>
            <a:r>
              <a:rPr lang="en-US" sz="1800"/>
              <a:t> </a:t>
            </a:r>
            <a:r>
              <a:rPr lang="en-US" sz="1800" err="1"/>
              <a:t>en</a:t>
            </a:r>
            <a:r>
              <a:rPr lang="en-US" sz="1800"/>
              <a:t> </a:t>
            </a:r>
            <a:r>
              <a:rPr lang="en-US" sz="1800" err="1"/>
              <a:t>focntion</a:t>
            </a:r>
            <a:r>
              <a:rPr lang="en-US" sz="1800"/>
              <a:t> de la </a:t>
            </a:r>
            <a:r>
              <a:rPr lang="en-US" sz="1800" err="1"/>
              <a:t>valeur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 b="1"/>
          </a:p>
          <a:p>
            <a:pPr marL="285750" indent="-285750"/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8CA15B-210B-D354-77DE-5D913E6F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" t="-3153" r="63065" b="3153"/>
          <a:stretch/>
        </p:blipFill>
        <p:spPr>
          <a:xfrm>
            <a:off x="7129438" y="-226531"/>
            <a:ext cx="5059258" cy="709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82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F39ED-39C3-4EDF-49AE-628A123B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4B8C0AA6-6A99-E3DE-0D67-9FE829485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4371BE-8509-7127-0CD4-0B3452CAE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Boucle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153292-F344-8282-0CFF-2C4B9140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7577"/>
            <a:ext cx="6035040" cy="5146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En </a:t>
            </a:r>
            <a:r>
              <a:rPr lang="en-US" sz="1800" b="1" err="1">
                <a:ea typeface="+mn-lt"/>
                <a:cs typeface="+mn-lt"/>
              </a:rPr>
              <a:t>algorithmie</a:t>
            </a:r>
            <a:r>
              <a:rPr lang="en-US" sz="1800">
                <a:ea typeface="+mn-lt"/>
                <a:cs typeface="+mn-lt"/>
              </a:rPr>
              <a:t>, les</a:t>
            </a:r>
            <a:r>
              <a:rPr lang="en-US" sz="1800"/>
              <a:t> </a:t>
            </a:r>
            <a:r>
              <a:rPr lang="en-US" sz="1800" err="1"/>
              <a:t>boucles</a:t>
            </a:r>
            <a:r>
              <a:rPr lang="en-US" sz="1800"/>
              <a:t> </a:t>
            </a:r>
            <a:r>
              <a:rPr lang="en-US" sz="1800" err="1"/>
              <a:t>permet</a:t>
            </a:r>
            <a:r>
              <a:rPr lang="en-US" sz="1800"/>
              <a:t> de </a:t>
            </a:r>
            <a:r>
              <a:rPr lang="en-US" sz="1800" err="1"/>
              <a:t>créer</a:t>
            </a:r>
            <a:r>
              <a:rPr lang="en-US" sz="1800"/>
              <a:t> </a:t>
            </a:r>
            <a:r>
              <a:rPr lang="en-US" sz="1800" err="1"/>
              <a:t>une</a:t>
            </a:r>
            <a:r>
              <a:rPr lang="en-US" sz="1800"/>
              <a:t> </a:t>
            </a:r>
            <a:r>
              <a:rPr lang="en-US" sz="1800" err="1"/>
              <a:t>itération</a:t>
            </a:r>
            <a:r>
              <a:rPr lang="en-US" sz="1800"/>
              <a:t> </a:t>
            </a:r>
            <a:r>
              <a:rPr lang="en-US" sz="1800" err="1"/>
              <a:t>c'est</a:t>
            </a:r>
            <a:r>
              <a:rPr lang="en-US" sz="1800"/>
              <a:t> à dire </a:t>
            </a:r>
            <a:r>
              <a:rPr lang="en-US" sz="1800" err="1"/>
              <a:t>une</a:t>
            </a:r>
            <a:r>
              <a:rPr lang="en-US" sz="1800"/>
              <a:t> action qui se </a:t>
            </a:r>
            <a:r>
              <a:rPr lang="en-US" sz="1800" err="1"/>
              <a:t>répète</a:t>
            </a:r>
            <a:r>
              <a:rPr lang="en-US" sz="1800"/>
              <a:t> d'un point A à un point B, </a:t>
            </a:r>
            <a:r>
              <a:rPr lang="en-US" sz="1800" err="1"/>
              <a:t>ou</a:t>
            </a:r>
            <a:r>
              <a:rPr lang="en-US" sz="1800"/>
              <a:t> simple </a:t>
            </a:r>
            <a:r>
              <a:rPr lang="en-US" sz="1800" err="1"/>
              <a:t>s'arrête</a:t>
            </a:r>
            <a:r>
              <a:rPr lang="en-US" sz="1800"/>
              <a:t> </a:t>
            </a:r>
            <a:r>
              <a:rPr lang="en-US" sz="1800" err="1"/>
              <a:t>lorsque</a:t>
            </a:r>
            <a:r>
              <a:rPr lang="en-US" sz="1800"/>
              <a:t> la condition </a:t>
            </a:r>
            <a:r>
              <a:rPr lang="en-US" sz="1800" err="1"/>
              <a:t>devient</a:t>
            </a:r>
            <a:r>
              <a:rPr lang="en-US" sz="1800"/>
              <a:t> vrai</a:t>
            </a:r>
            <a:endParaRPr lang="en-US" err="1"/>
          </a:p>
          <a:p>
            <a:pPr marL="0" indent="0">
              <a:buNone/>
            </a:pPr>
            <a:endParaRPr lang="en-US" sz="18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For ( I=0; I&lt;=10; I++){</a:t>
            </a: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 </a:t>
            </a: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  Affiche ( I );</a:t>
            </a:r>
          </a:p>
          <a:p>
            <a:pPr marL="0" indent="0">
              <a:buNone/>
            </a:pPr>
            <a:endParaRPr lang="en-US" sz="1800" b="1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0070C0"/>
                </a:solidFill>
              </a:rPr>
              <a:t>}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 b="1"/>
          </a:p>
          <a:p>
            <a:pPr marL="285750" indent="-285750"/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C88473-C6B9-4C19-2FC3-FC6C4B1ED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" t="-3153" r="63065" b="3153"/>
          <a:stretch/>
        </p:blipFill>
        <p:spPr>
          <a:xfrm>
            <a:off x="7129438" y="-226531"/>
            <a:ext cx="5059258" cy="709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67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106B5-7F7B-4364-5F05-3600F7294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E09B426A-396B-A079-2724-BA81FEB79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C5C10-0B4C-31BA-5410-F89AC309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Boucle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DC5F26-7661-9D9B-AFAB-A7866A822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7577"/>
            <a:ext cx="6035040" cy="5146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/>
              <a:t>Vous </a:t>
            </a:r>
            <a:r>
              <a:rPr lang="en-US" sz="1800" b="1" err="1"/>
              <a:t>avez</a:t>
            </a:r>
            <a:r>
              <a:rPr lang="en-US" sz="1800" b="1"/>
              <a:t> 3 types de </a:t>
            </a:r>
            <a:r>
              <a:rPr lang="en-US" sz="1800" b="1" err="1"/>
              <a:t>boucles</a:t>
            </a:r>
            <a:r>
              <a:rPr lang="en-US" sz="1800" b="1"/>
              <a:t> :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For :</a:t>
            </a:r>
            <a:r>
              <a:rPr lang="en-US" sz="1800"/>
              <a:t> Boucle </a:t>
            </a:r>
            <a:r>
              <a:rPr lang="en-US" sz="1800" err="1"/>
              <a:t>classique</a:t>
            </a:r>
            <a:r>
              <a:rPr lang="en-US" sz="1800"/>
              <a:t> </a:t>
            </a:r>
            <a:r>
              <a:rPr lang="en-US" sz="1800" err="1"/>
              <a:t>idéale</a:t>
            </a:r>
            <a:r>
              <a:rPr lang="en-US" sz="1800"/>
              <a:t> pour les </a:t>
            </a:r>
            <a:r>
              <a:rPr lang="en-US" sz="1800" err="1"/>
              <a:t>compteurs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While :</a:t>
            </a:r>
            <a:r>
              <a:rPr lang="en-US" sz="1800"/>
              <a:t> Tant </a:t>
            </a:r>
            <a:r>
              <a:rPr lang="en-US" sz="1800" err="1"/>
              <a:t>que</a:t>
            </a:r>
            <a:r>
              <a:rPr lang="en-US" sz="1800"/>
              <a:t> la condition est </a:t>
            </a:r>
            <a:r>
              <a:rPr lang="en-US" sz="1800" err="1"/>
              <a:t>fausse</a:t>
            </a:r>
            <a:r>
              <a:rPr lang="en-US" sz="1800"/>
              <a:t> </a:t>
            </a:r>
            <a:r>
              <a:rPr lang="en-US" sz="1800" err="1"/>
              <a:t>alors</a:t>
            </a:r>
            <a:r>
              <a:rPr lang="en-US" sz="1800"/>
              <a:t> </a:t>
            </a:r>
            <a:r>
              <a:rPr lang="en-US" sz="1800" err="1"/>
              <a:t>ça</a:t>
            </a:r>
            <a:r>
              <a:rPr lang="en-US" sz="1800"/>
              <a:t> continue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Do While : </a:t>
            </a:r>
            <a:r>
              <a:rPr lang="en-US" sz="1800"/>
              <a:t>Lance </a:t>
            </a:r>
            <a:r>
              <a:rPr lang="en-US" sz="1800" err="1"/>
              <a:t>une</a:t>
            </a:r>
            <a:r>
              <a:rPr lang="en-US" sz="1800"/>
              <a:t> première </a:t>
            </a:r>
            <a:r>
              <a:rPr lang="en-US" sz="1800" err="1"/>
              <a:t>itération</a:t>
            </a:r>
            <a:r>
              <a:rPr lang="en-US" sz="1800"/>
              <a:t> </a:t>
            </a:r>
            <a:r>
              <a:rPr lang="en-US" sz="1800" err="1"/>
              <a:t>vrai</a:t>
            </a:r>
            <a:r>
              <a:rPr lang="en-US" sz="1800"/>
              <a:t> </a:t>
            </a:r>
            <a:r>
              <a:rPr lang="en-US" sz="1800" err="1"/>
              <a:t>puis</a:t>
            </a:r>
            <a:r>
              <a:rPr lang="en-US" sz="1800"/>
              <a:t> continue </a:t>
            </a:r>
            <a:r>
              <a:rPr lang="en-US" sz="1800" err="1"/>
              <a:t>si</a:t>
            </a:r>
            <a:r>
              <a:rPr lang="en-US" sz="1800"/>
              <a:t> </a:t>
            </a:r>
            <a:r>
              <a:rPr lang="en-US" sz="1800" err="1"/>
              <a:t>elle</a:t>
            </a:r>
            <a:r>
              <a:rPr lang="en-US" sz="1800"/>
              <a:t> est </a:t>
            </a:r>
            <a:r>
              <a:rPr lang="en-US" sz="1800" err="1"/>
              <a:t>fausse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Foreach : </a:t>
            </a:r>
            <a:r>
              <a:rPr lang="en-US" sz="1800" err="1"/>
              <a:t>Idéale</a:t>
            </a:r>
            <a:r>
              <a:rPr lang="en-US" sz="1800"/>
              <a:t> pour </a:t>
            </a:r>
            <a:r>
              <a:rPr lang="en-US" sz="1800" err="1"/>
              <a:t>parcourir</a:t>
            </a:r>
            <a:r>
              <a:rPr lang="en-US" sz="1800"/>
              <a:t> un tableau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28DC83-2D1F-A9BC-EB87-0512403E8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" t="-3153" r="63065" b="3153"/>
          <a:stretch/>
        </p:blipFill>
        <p:spPr>
          <a:xfrm>
            <a:off x="7129438" y="-226531"/>
            <a:ext cx="5059258" cy="709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35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B6663-5888-B312-E483-7518B491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AB392D5F-C08C-E67A-9881-B67BB277E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+mn-lt"/>
              <a:cs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66D4C-EAAC-8443-C91A-9114EF059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73817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Print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DC8479-1125-43BA-37F2-35F04E2B1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14009"/>
            <a:ext cx="6035040" cy="5146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 b="1"/>
          </a:p>
          <a:p>
            <a:pPr marL="285750" indent="-285750"/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 i="1"/>
          </a:p>
          <a:p>
            <a:endParaRPr lang="en-US" sz="1800"/>
          </a:p>
          <a:p>
            <a:endParaRPr lang="en-US" sz="1800"/>
          </a:p>
          <a:p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US" sz="1800" b="1"/>
          </a:p>
          <a:p>
            <a:endParaRPr lang="en-US" sz="1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740E5-6398-E738-08F0-959ACA73C798}"/>
              </a:ext>
            </a:extLst>
          </p:cNvPr>
          <p:cNvSpPr txBox="1"/>
          <p:nvPr/>
        </p:nvSpPr>
        <p:spPr>
          <a:xfrm>
            <a:off x="693370" y="1204873"/>
            <a:ext cx="1070746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Le mot-</a:t>
            </a:r>
            <a:r>
              <a:rPr lang="en-US" err="1">
                <a:ea typeface="+mn-lt"/>
                <a:cs typeface="+mn-lt"/>
              </a:rPr>
              <a:t>clé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ou</a:t>
            </a:r>
            <a:r>
              <a:rPr lang="en-US">
                <a:ea typeface="+mn-lt"/>
                <a:cs typeface="+mn-lt"/>
              </a:rPr>
              <a:t> la </a:t>
            </a:r>
            <a:r>
              <a:rPr lang="en-US" err="1">
                <a:ea typeface="+mn-lt"/>
                <a:cs typeface="+mn-lt"/>
              </a:rPr>
              <a:t>fonction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latin typeface="Consolas"/>
              </a:rPr>
              <a:t>print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latin typeface="Consolas"/>
              </a:rPr>
              <a:t>afficher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pseudo-code) </a:t>
            </a:r>
            <a:r>
              <a:rPr lang="en-US" err="1">
                <a:ea typeface="+mn-lt"/>
                <a:cs typeface="+mn-lt"/>
              </a:rPr>
              <a:t>sert</a:t>
            </a:r>
            <a:r>
              <a:rPr lang="en-US">
                <a:ea typeface="+mn-lt"/>
                <a:cs typeface="+mn-lt"/>
              </a:rPr>
              <a:t> à </a:t>
            </a:r>
            <a:r>
              <a:rPr lang="en-US" b="1" err="1">
                <a:ea typeface="+mn-lt"/>
                <a:cs typeface="+mn-lt"/>
              </a:rPr>
              <a:t>afficher</a:t>
            </a:r>
            <a:r>
              <a:rPr lang="en-US" b="1">
                <a:ea typeface="+mn-lt"/>
                <a:cs typeface="+mn-lt"/>
              </a:rPr>
              <a:t> des </a:t>
            </a:r>
            <a:r>
              <a:rPr lang="en-US" b="1" err="1">
                <a:ea typeface="+mn-lt"/>
                <a:cs typeface="+mn-lt"/>
              </a:rPr>
              <a:t>informations</a:t>
            </a:r>
            <a:r>
              <a:rPr lang="en-US" b="1">
                <a:ea typeface="+mn-lt"/>
                <a:cs typeface="+mn-lt"/>
              </a:rPr>
              <a:t> à </a:t>
            </a:r>
            <a:r>
              <a:rPr lang="en-US" b="1" err="1">
                <a:ea typeface="+mn-lt"/>
                <a:cs typeface="+mn-lt"/>
              </a:rPr>
              <a:t>l'écran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C’est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l’un</a:t>
            </a:r>
            <a:r>
              <a:rPr lang="en-US" b="1">
                <a:ea typeface="+mn-lt"/>
                <a:cs typeface="+mn-lt"/>
              </a:rPr>
              <a:t> des </a:t>
            </a:r>
            <a:r>
              <a:rPr lang="en-US" b="1" err="1">
                <a:ea typeface="+mn-lt"/>
                <a:cs typeface="+mn-lt"/>
              </a:rPr>
              <a:t>outils</a:t>
            </a:r>
            <a:r>
              <a:rPr lang="en-US" b="1">
                <a:ea typeface="+mn-lt"/>
                <a:cs typeface="+mn-lt"/>
              </a:rPr>
              <a:t> les plus </a:t>
            </a:r>
            <a:r>
              <a:rPr lang="en-US" b="1" err="1">
                <a:ea typeface="+mn-lt"/>
                <a:cs typeface="+mn-lt"/>
              </a:rPr>
              <a:t>utilisés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en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programmation</a:t>
            </a:r>
            <a:r>
              <a:rPr lang="en-US">
                <a:ea typeface="+mn-lt"/>
                <a:cs typeface="+mn-lt"/>
              </a:rPr>
              <a:t>, surtout pour :</a:t>
            </a:r>
            <a:endParaRPr lang="en-US"/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6DF314-3EB3-B1E4-0E4D-5A5C0A1DA9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9" t="536" r="27111" b="-536"/>
          <a:stretch/>
        </p:blipFill>
        <p:spPr>
          <a:xfrm>
            <a:off x="612336" y="2641256"/>
            <a:ext cx="10484505" cy="202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88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64E5-FD32-DBCA-3DA7-D481C2C2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 peu de pratique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9AD67-614C-9045-3388-4D986A7F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525751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Me declarer </a:t>
            </a:r>
            <a:r>
              <a:rPr lang="en-US" err="1"/>
              <a:t>une</a:t>
            </a:r>
            <a:r>
              <a:rPr lang="en-US"/>
              <a:t> variable type entire, </a:t>
            </a:r>
            <a:r>
              <a:rPr lang="en-US" err="1"/>
              <a:t>lui</a:t>
            </a:r>
            <a:r>
              <a:rPr lang="en-US"/>
              <a:t> donner </a:t>
            </a:r>
            <a:r>
              <a:rPr lang="en-US" err="1"/>
              <a:t>une</a:t>
            </a:r>
            <a:r>
              <a:rPr lang="en-US"/>
              <a:t> Valeur </a:t>
            </a:r>
            <a:r>
              <a:rPr lang="en-US" err="1"/>
              <a:t>puis</a:t>
            </a:r>
            <a:r>
              <a:rPr lang="en-US"/>
              <a:t> </a:t>
            </a:r>
            <a:r>
              <a:rPr lang="en-US" err="1"/>
              <a:t>l’afficher</a:t>
            </a:r>
            <a:endParaRPr lang="en-US"/>
          </a:p>
          <a:p>
            <a:endParaRPr lang="en-US"/>
          </a:p>
          <a:p>
            <a:r>
              <a:rPr lang="en-US"/>
              <a:t>Avec Scanner &amp; Print, je me faire </a:t>
            </a:r>
            <a:r>
              <a:rPr lang="en-US" err="1"/>
              <a:t>afficher</a:t>
            </a:r>
            <a:r>
              <a:rPr lang="en-US"/>
              <a:t> </a:t>
            </a:r>
            <a:r>
              <a:rPr lang="en-US" err="1"/>
              <a:t>votre</a:t>
            </a:r>
            <a:r>
              <a:rPr lang="en-US"/>
              <a:t> message </a:t>
            </a:r>
            <a:r>
              <a:rPr lang="en-US" err="1"/>
              <a:t>d'entrée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Avec scanner et If , me faire un </a:t>
            </a:r>
            <a:r>
              <a:rPr lang="en-US" err="1"/>
              <a:t>algorithme</a:t>
            </a:r>
            <a:r>
              <a:rPr lang="en-US"/>
              <a:t> qui </a:t>
            </a:r>
            <a:r>
              <a:rPr lang="en-US" err="1"/>
              <a:t>permet</a:t>
            </a:r>
            <a:r>
              <a:rPr lang="en-US"/>
              <a:t> de faire la </a:t>
            </a:r>
            <a:r>
              <a:rPr lang="en-US" err="1"/>
              <a:t>somme</a:t>
            </a:r>
            <a:r>
              <a:rPr lang="en-US"/>
              <a:t> de deux </a:t>
            </a:r>
            <a:r>
              <a:rPr lang="en-US" err="1"/>
              <a:t>valeurs</a:t>
            </a:r>
            <a:r>
              <a:rPr lang="en-US"/>
              <a:t> </a:t>
            </a:r>
            <a:r>
              <a:rPr lang="en-US" err="1"/>
              <a:t>entiers</a:t>
            </a:r>
            <a:r>
              <a:rPr lang="en-US"/>
              <a:t> et me dire </a:t>
            </a:r>
            <a:r>
              <a:rPr lang="en-US" err="1"/>
              <a:t>si</a:t>
            </a:r>
            <a:r>
              <a:rPr lang="en-US"/>
              <a:t> la </a:t>
            </a:r>
            <a:r>
              <a:rPr lang="en-US" err="1"/>
              <a:t>valeur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supérieur à 10.</a:t>
            </a:r>
          </a:p>
          <a:p>
            <a:endParaRPr lang="en-US"/>
          </a:p>
          <a:p>
            <a:r>
              <a:rPr lang="en-US" b="1">
                <a:solidFill>
                  <a:srgbClr val="FF0000"/>
                </a:solidFill>
              </a:rPr>
              <a:t>Pseudo code et code Java </a:t>
            </a:r>
            <a:r>
              <a:rPr lang="en-US" b="1" err="1">
                <a:solidFill>
                  <a:srgbClr val="FF0000"/>
                </a:solidFill>
              </a:rPr>
              <a:t>demandé</a:t>
            </a:r>
            <a:endParaRPr 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01413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Microsoft Office PowerPoint</Application>
  <PresentationFormat>Grand écran</PresentationFormat>
  <Paragraphs>225</Paragraphs>
  <Slides>18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Neue Haas Grotesk Text Pro</vt:lpstr>
      <vt:lpstr>VanillaVTI</vt:lpstr>
      <vt:lpstr>Algorithmie</vt:lpstr>
      <vt:lpstr>Sommaire</vt:lpstr>
      <vt:lpstr>Définition</vt:lpstr>
      <vt:lpstr>Histoire de l'Algorithmie</vt:lpstr>
      <vt:lpstr>Histoire de  l'Algorithmie</vt:lpstr>
      <vt:lpstr>Langage de  programmation</vt:lpstr>
      <vt:lpstr>Langage Java</vt:lpstr>
      <vt:lpstr>Pseudo Code</vt:lpstr>
      <vt:lpstr>Types</vt:lpstr>
      <vt:lpstr>Opérateurs</vt:lpstr>
      <vt:lpstr>Opérateurs</vt:lpstr>
      <vt:lpstr>Scanner</vt:lpstr>
      <vt:lpstr>Condition</vt:lpstr>
      <vt:lpstr>Condition</vt:lpstr>
      <vt:lpstr>Boucle</vt:lpstr>
      <vt:lpstr>Boucle</vt:lpstr>
      <vt:lpstr>Print</vt:lpstr>
      <vt:lpstr>Un peu de pratique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KONDA Eudes</dc:creator>
  <cp:lastModifiedBy>TEBIB Salah</cp:lastModifiedBy>
  <cp:revision>3</cp:revision>
  <dcterms:created xsi:type="dcterms:W3CDTF">2025-04-21T08:35:39Z</dcterms:created>
  <dcterms:modified xsi:type="dcterms:W3CDTF">2025-12-08T07:57:28Z</dcterms:modified>
</cp:coreProperties>
</file>